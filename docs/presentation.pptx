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541AC80-E84A-F509-4060-DF6129138DA8}">
          <p14:sldIdLst>
            <p14:sldId id="256"/>
            <p14:sldId id="257"/>
          </p14:sldIdLst>
        </p14:section>
        <p14:section name="Findings" id="{8B885231-B7B3-B171-D88A-0E093F885738}">
          <p14:sldIdLst>
            <p14:sldId id="258"/>
            <p14:sldId id="259"/>
            <p14:sldId id="260"/>
            <p14:sldId id="261"/>
          </p14:sldIdLst>
        </p14:section>
        <p14:section name="Conclusion" id="{DC0A4A24-A55F-BACA-0794-882DC907C382}">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2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972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Manraj. This talk covers my research into securing Database-as-a-Service: managed cloud databases like Amazon RDS, Azure SQL or Snowflake.
The one-line version is on the slide: the provider runs the database, but you still decide who can reach it. I'll show where real breaches came from, why the usual controls fail, and what a small SQL detection lab I built could and couldn't catch.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cloud provider describes security as shared. AWS puts it as security OF the cloud versus security IN the cloud.
The provider handles the left side: hardware, patching the database engine, backups and failover. That's the reason people adopt DBaaS.
But the right side stays with the customer: who can sign in, whether the database is reachable from the internet, encryption and keys, and whether anyone actually reads the logs. NIST is explicit that outsourcing a service does not outsource accountability for the data. The rest of this talk is about that right-hand side.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documented incidents.
Capital One, 2019: a misconfigured web application firewall let an attacker grab temporary credentials, and the role behind them could read far more storage than it needed. Over 100 million customers' data.
Snowflake customers, 2024: Mandiant found no breach of Snowflake itself. Attackers logged in with passwords stolen by infostealer malware, some from 2020, on accounts with no MFA and no network restrictions. About 165 organisations were notified.
Microsoft, 2024: the Midnight Blizzard group password-sprayed one legacy test account that had no MFA, and used it to reach senior leaders' email.
The pattern: in every case the platform worked as designed. What failed was on the customer's side of the 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controls themselves are mature. The interesting question is how each one fails, and whether you'd notice.
MFA would likely have stopped both 2024 incidents, but it only covers the accounts you know about, and Midnight Blizzard came in through one nobody owned.
Network isolation is a single setting; one change undoes it.
Encryption is the important one to be honest about: it protects data from people who shouldn't be able to query it. The Snowflake attackers were, as far as the database could tell, legitimate users, so encryption did nothing.
Configuration scanning finds drift after the fact. And logging, the last line, fails the quietest: logs nobody reads look exactly like logs that were checked and found clean.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whether these failures are visible in logs, I built a lab: fourteen days of synthetic sign-in, permission-change and database-configuration logs for a 20-person company, with incidents planted at known times.
Eight detections, written in plain SQL. Three are triggers that fire the instant a dangerous row lands, like a database becoming public. Five are queries over time windows.
Here's the main attack chain. At 2:10 am, eight failed sign-ins. At 2:14 the attacker gets in, and two rules fire: brute force, and a first sign-in from a new country. At 2:31 it grants itself DBAdmin: off-hours privilege grant, and a critical correlation, a privilege change minutes after a suspicious sign-in. At 2:40 the customer database is made public, which is critical.
Across all three planted incidents, all nine expected alerts fired, with zero alerts on normal activity, and twelve automated tests keep it that 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interesting result was the one the first version of the lab missed.
In a password spray, the attacker tries one or two passwords across many accounts. When one works, that account has seen a single failure, and a per-account brute-force rule needs five. It stays silent.
A rule counting failures per IP sees the spray, but can't say whether it worked. Only joining the two, a successful sign-in from an IP that was spraying, shows the compromise. That's the Midnight Blizzard pattern.
But the fix has limits, and I want to be honest about them: the real attacker rotated through residential proxies so no single IP stood out. Fixed thresholds can be learned. The data is synthetic. And real cloud logs are UTC across regions, which complicates something as simple as 'off-hours'.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DBaaS does what it promises: the provider runs the database well. But the breaches didn't start there. They started in the customer's half of the model.
Four recommendations. One: MFA on every identity that can reach data, including the test and service accounts nobody thinks about. Two: make public network access the exception, and alert on any change that enables it. Three: review permissions against actual use, regularly. Four: treat audit logs as a control, not an archive. Write detections, test them against data where you know the answer, and record what they can't see.
The gaps that remain are less about missing technology and more about defaults, ownership and attention. The code, data and full report are on my GitHub. Thanks for watching.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60120"/>
            <a:ext cx="5760720" cy="16002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743200"/>
            <a:ext cx="5760720" cy="777240"/>
          </a:xfrm>
          <a:prstGeom prst="rect">
            <a:avLst/>
          </a:prstGeom>
          <a:noFill/>
          <a:ln/>
        </p:spPr>
        <p:txBody>
          <a:bodyPr wrap="square" rtlCol="0"/>
          <a:lstStyle>
            <a:lvl1pPr marL="0" indent="0" algn="l">
              <a:buNone/>
              <a:defRPr lang="en-US" sz="1800" dirty="0">
                <a:solidFill>
                  <a:schemeClr val="accent5"/>
                </a:solidFill>
              </a:defRPr>
            </a:lvl1pPr>
          </a:lstStyle>
          <a:p>
            <a:pPr marL="0" indent="0" algn="l">
              <a:buNone/>
            </a:pPr>
            <a:endParaRPr lang="en-US" sz="1800" dirty="0"/>
          </a:p>
        </p:txBody>
      </p:sp>
      <p:sp>
        <p:nvSpPr>
          <p:cNvPr id="4" name="Text 0"/>
          <p:cNvSpPr>
            <a:spLocks noGrp="1"/>
          </p:cNvSpPr>
          <p:nvPr>
            <p:ph type="body" idx="102" hasCustomPrompt="1"/>
          </p:nvPr>
        </p:nvSpPr>
        <p:spPr>
          <a:xfrm>
            <a:off x="548640" y="4069080"/>
            <a:ext cx="5760720" cy="548640"/>
          </a:xfrm>
          <a:prstGeom prst="rect">
            <a:avLst/>
          </a:prstGeom>
          <a:noFill/>
          <a:ln/>
        </p:spPr>
        <p:txBody>
          <a:bodyPr wrap="square" rtlCol="0"/>
          <a:lstStyle>
            <a:lvl1pPr marL="0" indent="0">
              <a:buNone/>
              <a:defRPr lang="en-US" sz="1200" dirty="0">
                <a:solidFill>
                  <a:schemeClr val="bg2"/>
                </a:solidFill>
              </a:defRPr>
            </a:lvl1pPr>
          </a:lstStyle>
          <a:p>
            <a:pPr marL="0" indent="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3" name="Text 0"/>
          <p:cNvSpPr/>
          <p:nvPr/>
        </p:nvSpPr>
        <p:spPr>
          <a:xfrm>
            <a:off x="457200" y="4754880"/>
            <a:ext cx="5486400" cy="256032"/>
          </a:xfrm>
          <a:prstGeom prst="rect">
            <a:avLst/>
          </a:prstGeom>
          <a:noFill/>
          <a:ln/>
        </p:spPr>
        <p:txBody>
          <a:bodyPr wrap="square" lIns="0" tIns="0" rIns="0" bIns="0" rtlCol="0" anchor="ctr"/>
          <a:lstStyle/>
          <a:p>
            <a:pPr marL="0" indent="0">
              <a:buNone/>
            </a:pPr>
            <a:r>
              <a:rPr lang="en-US" sz="1000" dirty="0">
                <a:solidFill>
                  <a:schemeClr val="accent4"/>
                </a:solidFill>
              </a:rPr>
              <a:t>Securing Database-as-a-Service  ·  Manraj Singh Makin</a:t>
            </a:r>
            <a:endParaRPr lang="en-US" sz="10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12" Type="http://schemas.openxmlformats.org/officeDocument/2006/relationships/image" Target="../media/image3.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3.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3.png"/><Relationship Id="rId4" Type="http://schemas.openxmlformats.org/officeDocument/2006/relationships/notesSlide" Target="../notesSlides/notesSlide4.xml"/><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3.xml"/><Relationship Id="rId7" Type="http://schemas.openxmlformats.org/officeDocument/2006/relationships/image" Target="../media/image22.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1.png"/><Relationship Id="rId11" Type="http://schemas.openxmlformats.org/officeDocument/2006/relationships/image" Target="../media/image3.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notesSlide" Target="../notesSlides/notesSlide6.xml"/><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5" Type="http://schemas.openxmlformats.org/officeDocument/2006/relationships/hyperlink" Target="https://github.com/Mannraj5/Project-6-Cloud-Security-Log-Analysis" TargetMode="Externa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960120"/>
            <a:ext cx="5760720" cy="1600200"/>
          </a:xfrm>
          <a:prstGeom prst="rect">
            <a:avLst/>
          </a:prstGeom>
          <a:noFill/>
          <a:ln/>
        </p:spPr>
        <p:txBody>
          <a:bodyPr wrap="square" lIns="0" tIns="0" rIns="0" bIns="0" rtlCol="0" anchor="b"/>
          <a:lstStyle/>
          <a:p>
            <a:pPr marL="0" indent="0" algn="l">
              <a:buNone/>
            </a:pPr>
            <a:r>
              <a:rPr lang="en-US" sz="4000" b="1" dirty="0">
                <a:solidFill>
                  <a:schemeClr val="bg1"/>
                </a:solidFill>
              </a:rPr>
              <a:t>Securing</a:t>
            </a:r>
            <a:endParaRPr lang="en-US" sz="4000" dirty="0"/>
          </a:p>
          <a:p>
            <a:pPr marL="0" indent="0" algn="l">
              <a:buNone/>
            </a:pPr>
            <a:r>
              <a:rPr lang="en-US" sz="4000" b="1" dirty="0">
                <a:solidFill>
                  <a:schemeClr val="bg1"/>
                </a:solidFill>
              </a:rPr>
              <a:t>Database-as-a-Service</a:t>
            </a:r>
            <a:endParaRPr lang="en-US" sz="4000" dirty="0"/>
          </a:p>
        </p:txBody>
      </p:sp>
      <p:sp>
        <p:nvSpPr>
          <p:cNvPr id="3" name="Text 0"/>
          <p:cNvSpPr>
            <a:spLocks noGrp="1"/>
          </p:cNvSpPr>
          <p:nvPr>
            <p:ph type="body" idx="101" hasCustomPrompt="1"/>
          </p:nvPr>
        </p:nvSpPr>
        <p:spPr>
          <a:xfrm>
            <a:off x="548640" y="2743200"/>
            <a:ext cx="5760720" cy="777240"/>
          </a:xfrm>
          <a:prstGeom prst="rect">
            <a:avLst/>
          </a:prstGeom>
          <a:noFill/>
          <a:ln/>
        </p:spPr>
        <p:txBody>
          <a:bodyPr wrap="square" lIns="0" tIns="0" rIns="0" bIns="0" rtlCol="0" anchor="t"/>
          <a:lstStyle/>
          <a:p>
            <a:pPr marL="0" indent="0" algn="l">
              <a:buNone/>
            </a:pPr>
            <a:r>
              <a:rPr lang="en-US" sz="1800" i="1" dirty="0">
                <a:solidFill>
                  <a:schemeClr val="accent5"/>
                </a:solidFill>
              </a:rPr>
              <a:t>The provider runs the database.</a:t>
            </a:r>
            <a:endParaRPr lang="en-US" sz="1800" dirty="0"/>
          </a:p>
          <a:p>
            <a:pPr marL="0" indent="0" algn="l">
              <a:buNone/>
            </a:pPr>
            <a:r>
              <a:rPr lang="en-US" sz="1800" i="1" dirty="0">
                <a:solidFill>
                  <a:schemeClr val="accent5"/>
                </a:solidFill>
              </a:rPr>
              <a:t>You still decide who can reach it.</a:t>
            </a:r>
            <a:endParaRPr lang="en-US" sz="1800" dirty="0"/>
          </a:p>
        </p:txBody>
      </p:sp>
      <p:sp>
        <p:nvSpPr>
          <p:cNvPr id="4" name="Text 0"/>
          <p:cNvSpPr>
            <a:spLocks noGrp="1"/>
          </p:cNvSpPr>
          <p:nvPr>
            <p:ph type="body" idx="102" hasCustomPrompt="1"/>
          </p:nvPr>
        </p:nvSpPr>
        <p:spPr>
          <a:xfrm>
            <a:off x="548640" y="4069080"/>
            <a:ext cx="5760720" cy="548640"/>
          </a:xfrm>
          <a:prstGeom prst="rect">
            <a:avLst/>
          </a:prstGeom>
          <a:noFill/>
          <a:ln/>
        </p:spPr>
        <p:txBody>
          <a:bodyPr wrap="square" lIns="0" tIns="0" rIns="0" bIns="0" rtlCol="0" anchor="t"/>
          <a:lstStyle/>
          <a:p>
            <a:pPr marL="0" indent="0">
              <a:buNone/>
            </a:pPr>
            <a:r>
              <a:rPr lang="en-US" sz="1200" dirty="0">
                <a:solidFill>
                  <a:schemeClr val="bg2"/>
                </a:solidFill>
              </a:rPr>
              <a:t>Manraj Singh Makin  ·  Research report &amp; detection lab  ·  github.com/Mannraj5</a:t>
            </a:r>
            <a:endParaRPr lang="en-US" sz="1200" dirty="0"/>
          </a:p>
        </p:txBody>
      </p:sp>
      <p:sp>
        <p:nvSpPr>
          <p:cNvPr id="5" name="Hero ring"/>
          <p:cNvSpPr/>
          <p:nvPr/>
        </p:nvSpPr>
        <p:spPr>
          <a:xfrm>
            <a:off x="6446520" y="1325880"/>
            <a:ext cx="2240280" cy="2240280"/>
          </a:xfrm>
          <a:prstGeom prst="ellipse">
            <a:avLst/>
          </a:prstGeom>
          <a:solidFill>
            <a:schemeClr val="tx2"/>
          </a:solidFill>
          <a:ln w="25400">
            <a:solidFill>
              <a:schemeClr val="accent5"/>
            </a:solidFill>
            <a:prstDash val="solid"/>
          </a:ln>
        </p:spPr>
        <p:txBody>
          <a:bodyPr/>
          <a:lstStyle/>
          <a:p>
            <a:endParaRPr lang="en-AU"/>
          </a:p>
        </p:txBody>
      </p:sp>
      <p:pic>
        <p:nvPicPr>
          <p:cNvPr id="6" name="Hero database icon" descr="preencoded.png"/>
          <p:cNvPicPr>
            <a:picLocks noChangeAspect="1"/>
          </p:cNvPicPr>
          <p:nvPr/>
        </p:nvPicPr>
        <p:blipFill>
          <a:blip r:embed="rId5"/>
          <a:stretch>
            <a:fillRect/>
          </a:stretch>
        </p:blipFill>
        <p:spPr>
          <a:xfrm>
            <a:off x="7086600" y="1874520"/>
            <a:ext cx="960120" cy="960120"/>
          </a:xfrm>
          <a:prstGeom prst="rect">
            <a:avLst/>
          </a:prstGeom>
        </p:spPr>
      </p:pic>
      <p:sp>
        <p:nvSpPr>
          <p:cNvPr id="7" name="Hero shield circle"/>
          <p:cNvSpPr/>
          <p:nvPr/>
        </p:nvSpPr>
        <p:spPr>
          <a:xfrm>
            <a:off x="7818120" y="2697480"/>
            <a:ext cx="731520" cy="731520"/>
          </a:xfrm>
          <a:prstGeom prst="ellipse">
            <a:avLst/>
          </a:prstGeom>
          <a:solidFill>
            <a:schemeClr val="accent2"/>
          </a:solidFill>
          <a:ln w="38100">
            <a:solidFill>
              <a:schemeClr val="tx1"/>
            </a:solidFill>
            <a:prstDash val="solid"/>
          </a:ln>
        </p:spPr>
        <p:txBody>
          <a:bodyPr/>
          <a:lstStyle/>
          <a:p>
            <a:endParaRPr lang="en-AU"/>
          </a:p>
        </p:txBody>
      </p:sp>
      <p:pic>
        <p:nvPicPr>
          <p:cNvPr id="8" name="Hero shield icon" descr="preencoded.png"/>
          <p:cNvPicPr>
            <a:picLocks noChangeAspect="1"/>
          </p:cNvPicPr>
          <p:nvPr/>
        </p:nvPicPr>
        <p:blipFill>
          <a:blip r:embed="rId6"/>
          <a:stretch>
            <a:fillRect/>
          </a:stretch>
        </p:blipFill>
        <p:spPr>
          <a:xfrm>
            <a:off x="7982712" y="2862072"/>
            <a:ext cx="402336" cy="402336"/>
          </a:xfrm>
          <a:prstGeom prst="rect">
            <a:avLst/>
          </a:prstGeom>
        </p:spPr>
      </p:pic>
      <p:pic>
        <p:nvPicPr>
          <p:cNvPr id="21" name="Audio 20">
            <a:hlinkClick r:id="" action="ppaction://media"/>
            <a:extLst>
              <a:ext uri="{FF2B5EF4-FFF2-40B4-BE49-F238E27FC236}">
                <a16:creationId xmlns:a16="http://schemas.microsoft.com/office/drawing/2014/main" id="{5CC45D3E-3B45-8663-E307-7461518A6F86}"/>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1657"/>
    </mc:Choice>
    <mc:Fallback>
      <p:transition spd="slow" advTm="716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1"/>
                </a:solidFill>
              </a:rPr>
              <a:t>Who secures a managed database?</a:t>
            </a:r>
            <a:endParaRPr lang="en-US" sz="3200" dirty="0"/>
          </a:p>
        </p:txBody>
      </p:sp>
      <p:sp>
        <p:nvSpPr>
          <p:cNvPr id="3" name="Provider panel"/>
          <p:cNvSpPr/>
          <p:nvPr/>
        </p:nvSpPr>
        <p:spPr>
          <a:xfrm>
            <a:off x="457200" y="1143000"/>
            <a:ext cx="3977640" cy="3108960"/>
          </a:xfrm>
          <a:prstGeom prst="roundRect">
            <a:avLst>
              <a:gd name="adj" fmla="val 3529"/>
            </a:avLst>
          </a:prstGeom>
          <a:solidFill>
            <a:schemeClr val="bg2"/>
          </a:solidFill>
          <a:ln w="12700">
            <a:solidFill>
              <a:schemeClr val="bg2"/>
            </a:solidFill>
            <a:prstDash val="solid"/>
          </a:ln>
        </p:spPr>
        <p:txBody>
          <a:bodyPr/>
          <a:lstStyle/>
          <a:p>
            <a:endParaRPr lang="en-AU"/>
          </a:p>
        </p:txBody>
      </p:sp>
      <p:sp>
        <p:nvSpPr>
          <p:cNvPr id="4" name="Provider heading"/>
          <p:cNvSpPr txBox="1"/>
          <p:nvPr/>
        </p:nvSpPr>
        <p:spPr>
          <a:xfrm>
            <a:off x="731520" y="1344168"/>
            <a:ext cx="3429000" cy="685800"/>
          </a:xfrm>
          <a:prstGeom prst="rect">
            <a:avLst/>
          </a:prstGeom>
          <a:noFill/>
          <a:ln/>
        </p:spPr>
        <p:txBody>
          <a:bodyPr wrap="square" lIns="0" tIns="0" rIns="0" bIns="0" rtlCol="0" anchor="ctr"/>
          <a:lstStyle/>
          <a:p>
            <a:pPr marL="0" indent="0">
              <a:buNone/>
            </a:pPr>
            <a:r>
              <a:rPr lang="en-US" sz="1100" b="1" kern="0" spc="200" dirty="0">
                <a:solidFill>
                  <a:schemeClr val="accent1"/>
                </a:solidFill>
              </a:rPr>
              <a:t>THE PROVIDER</a:t>
            </a:r>
            <a:endParaRPr lang="en-US" sz="1100" dirty="0"/>
          </a:p>
          <a:p>
            <a:pPr marL="0" indent="0">
              <a:buNone/>
            </a:pPr>
            <a:r>
              <a:rPr lang="en-US" sz="1800" b="1" dirty="0">
                <a:solidFill>
                  <a:schemeClr val="accent1"/>
                </a:solidFill>
              </a:rPr>
              <a:t>Security of the cloud</a:t>
            </a:r>
            <a:endParaRPr lang="en-US" sz="1100" dirty="0"/>
          </a:p>
        </p:txBody>
      </p:sp>
      <p:sp>
        <p:nvSpPr>
          <p:cNvPr id="5" name="Provider item 1 circle"/>
          <p:cNvSpPr/>
          <p:nvPr/>
        </p:nvSpPr>
        <p:spPr>
          <a:xfrm>
            <a:off x="731520" y="2148840"/>
            <a:ext cx="457200" cy="457200"/>
          </a:xfrm>
          <a:prstGeom prst="ellipse">
            <a:avLst/>
          </a:prstGeom>
          <a:solidFill>
            <a:schemeClr val="bg1"/>
          </a:solidFill>
          <a:ln w="12700">
            <a:solidFill>
              <a:schemeClr val="bg1"/>
            </a:solidFill>
            <a:prstDash val="solid"/>
          </a:ln>
        </p:spPr>
        <p:txBody>
          <a:bodyPr/>
          <a:lstStyle/>
          <a:p>
            <a:endParaRPr lang="en-AU"/>
          </a:p>
        </p:txBody>
      </p:sp>
      <p:pic>
        <p:nvPicPr>
          <p:cNvPr id="6" name="Provider item 1 icon" descr="preencoded.png"/>
          <p:cNvPicPr>
            <a:picLocks noChangeAspect="1"/>
          </p:cNvPicPr>
          <p:nvPr/>
        </p:nvPicPr>
        <p:blipFill>
          <a:blip r:embed="rId5"/>
          <a:stretch>
            <a:fillRect/>
          </a:stretch>
        </p:blipFill>
        <p:spPr>
          <a:xfrm>
            <a:off x="854964" y="2272284"/>
            <a:ext cx="210312" cy="210312"/>
          </a:xfrm>
          <a:prstGeom prst="rect">
            <a:avLst/>
          </a:prstGeom>
        </p:spPr>
      </p:pic>
      <p:sp>
        <p:nvSpPr>
          <p:cNvPr id="7" name="Provider item text 1"/>
          <p:cNvSpPr txBox="1"/>
          <p:nvPr/>
        </p:nvSpPr>
        <p:spPr>
          <a:xfrm>
            <a:off x="1325880" y="2148840"/>
            <a:ext cx="2880360" cy="457200"/>
          </a:xfrm>
          <a:prstGeom prst="rect">
            <a:avLst/>
          </a:prstGeom>
          <a:noFill/>
          <a:ln/>
        </p:spPr>
        <p:txBody>
          <a:bodyPr wrap="square" lIns="0" tIns="0" rIns="0" bIns="0" rtlCol="0" anchor="ctr"/>
          <a:lstStyle/>
          <a:p>
            <a:pPr marL="0" indent="0">
              <a:buNone/>
            </a:pPr>
            <a:r>
              <a:rPr lang="en-US" sz="1400" dirty="0">
                <a:solidFill>
                  <a:schemeClr val="tx1"/>
                </a:solidFill>
              </a:rPr>
              <a:t>Hardware, data centres, network</a:t>
            </a:r>
            <a:endParaRPr lang="en-US" sz="1400" dirty="0"/>
          </a:p>
        </p:txBody>
      </p:sp>
      <p:sp>
        <p:nvSpPr>
          <p:cNvPr id="8" name="Provider item 2 circle"/>
          <p:cNvSpPr/>
          <p:nvPr/>
        </p:nvSpPr>
        <p:spPr>
          <a:xfrm>
            <a:off x="731520" y="2807208"/>
            <a:ext cx="457200" cy="457200"/>
          </a:xfrm>
          <a:prstGeom prst="ellipse">
            <a:avLst/>
          </a:prstGeom>
          <a:solidFill>
            <a:schemeClr val="bg1"/>
          </a:solidFill>
          <a:ln w="12700">
            <a:solidFill>
              <a:schemeClr val="bg1"/>
            </a:solidFill>
            <a:prstDash val="solid"/>
          </a:ln>
        </p:spPr>
        <p:txBody>
          <a:bodyPr/>
          <a:lstStyle/>
          <a:p>
            <a:endParaRPr lang="en-AU"/>
          </a:p>
        </p:txBody>
      </p:sp>
      <p:pic>
        <p:nvPicPr>
          <p:cNvPr id="9" name="Provider item 2 icon" descr="preencoded.png"/>
          <p:cNvPicPr>
            <a:picLocks noChangeAspect="1"/>
          </p:cNvPicPr>
          <p:nvPr/>
        </p:nvPicPr>
        <p:blipFill>
          <a:blip r:embed="rId6"/>
          <a:stretch>
            <a:fillRect/>
          </a:stretch>
        </p:blipFill>
        <p:spPr>
          <a:xfrm>
            <a:off x="854964" y="2930652"/>
            <a:ext cx="210312" cy="210312"/>
          </a:xfrm>
          <a:prstGeom prst="rect">
            <a:avLst/>
          </a:prstGeom>
        </p:spPr>
      </p:pic>
      <p:sp>
        <p:nvSpPr>
          <p:cNvPr id="10" name="Provider item text 2"/>
          <p:cNvSpPr txBox="1"/>
          <p:nvPr/>
        </p:nvSpPr>
        <p:spPr>
          <a:xfrm>
            <a:off x="1325880" y="2807208"/>
            <a:ext cx="2880360" cy="457200"/>
          </a:xfrm>
          <a:prstGeom prst="rect">
            <a:avLst/>
          </a:prstGeom>
          <a:noFill/>
          <a:ln/>
        </p:spPr>
        <p:txBody>
          <a:bodyPr wrap="square" lIns="0" tIns="0" rIns="0" bIns="0" rtlCol="0" anchor="ctr"/>
          <a:lstStyle/>
          <a:p>
            <a:pPr marL="0" indent="0">
              <a:buNone/>
            </a:pPr>
            <a:r>
              <a:rPr lang="en-US" sz="1400" dirty="0">
                <a:solidFill>
                  <a:schemeClr val="tx1"/>
                </a:solidFill>
              </a:rPr>
              <a:t>Database engine patching</a:t>
            </a:r>
            <a:endParaRPr lang="en-US" sz="1400" dirty="0"/>
          </a:p>
        </p:txBody>
      </p:sp>
      <p:sp>
        <p:nvSpPr>
          <p:cNvPr id="11" name="Provider item 3 circle"/>
          <p:cNvSpPr/>
          <p:nvPr/>
        </p:nvSpPr>
        <p:spPr>
          <a:xfrm>
            <a:off x="731520" y="3465576"/>
            <a:ext cx="457200" cy="457200"/>
          </a:xfrm>
          <a:prstGeom prst="ellipse">
            <a:avLst/>
          </a:prstGeom>
          <a:solidFill>
            <a:schemeClr val="bg1"/>
          </a:solidFill>
          <a:ln w="12700">
            <a:solidFill>
              <a:schemeClr val="bg1"/>
            </a:solidFill>
            <a:prstDash val="solid"/>
          </a:ln>
        </p:spPr>
        <p:txBody>
          <a:bodyPr/>
          <a:lstStyle/>
          <a:p>
            <a:endParaRPr lang="en-AU"/>
          </a:p>
        </p:txBody>
      </p:sp>
      <p:pic>
        <p:nvPicPr>
          <p:cNvPr id="12" name="Provider item 3 icon" descr="preencoded.png"/>
          <p:cNvPicPr>
            <a:picLocks noChangeAspect="1"/>
          </p:cNvPicPr>
          <p:nvPr/>
        </p:nvPicPr>
        <p:blipFill>
          <a:blip r:embed="rId7"/>
          <a:stretch>
            <a:fillRect/>
          </a:stretch>
        </p:blipFill>
        <p:spPr>
          <a:xfrm>
            <a:off x="854964" y="3589020"/>
            <a:ext cx="210312" cy="210312"/>
          </a:xfrm>
          <a:prstGeom prst="rect">
            <a:avLst/>
          </a:prstGeom>
        </p:spPr>
      </p:pic>
      <p:sp>
        <p:nvSpPr>
          <p:cNvPr id="13" name="Provider item text 3"/>
          <p:cNvSpPr txBox="1"/>
          <p:nvPr/>
        </p:nvSpPr>
        <p:spPr>
          <a:xfrm>
            <a:off x="1325880" y="3465576"/>
            <a:ext cx="2880360" cy="457200"/>
          </a:xfrm>
          <a:prstGeom prst="rect">
            <a:avLst/>
          </a:prstGeom>
          <a:noFill/>
          <a:ln/>
        </p:spPr>
        <p:txBody>
          <a:bodyPr wrap="square" lIns="0" tIns="0" rIns="0" bIns="0" rtlCol="0" anchor="ctr"/>
          <a:lstStyle/>
          <a:p>
            <a:pPr marL="0" indent="0">
              <a:buNone/>
            </a:pPr>
            <a:r>
              <a:rPr lang="en-US" sz="1400" dirty="0">
                <a:solidFill>
                  <a:schemeClr val="tx1"/>
                </a:solidFill>
              </a:rPr>
              <a:t>Backups, replication, failover</a:t>
            </a:r>
            <a:endParaRPr lang="en-US" sz="1400" dirty="0"/>
          </a:p>
        </p:txBody>
      </p:sp>
      <p:sp>
        <p:nvSpPr>
          <p:cNvPr id="14" name="Customer panel"/>
          <p:cNvSpPr/>
          <p:nvPr/>
        </p:nvSpPr>
        <p:spPr>
          <a:xfrm>
            <a:off x="4709160" y="1143000"/>
            <a:ext cx="3977640" cy="3108960"/>
          </a:xfrm>
          <a:prstGeom prst="roundRect">
            <a:avLst>
              <a:gd name="adj" fmla="val 3529"/>
            </a:avLst>
          </a:prstGeom>
          <a:solidFill>
            <a:schemeClr val="accent1"/>
          </a:solidFill>
          <a:ln w="12700">
            <a:solidFill>
              <a:schemeClr val="accent1"/>
            </a:solidFill>
            <a:prstDash val="solid"/>
          </a:ln>
          <a:effectLst>
            <a:outerShdw blurRad="127000" dist="25400" dir="5400000" algn="bl" rotWithShape="0">
              <a:srgbClr val="0B1F24">
                <a:alpha val="14000"/>
              </a:srgbClr>
            </a:outerShdw>
          </a:effectLst>
        </p:spPr>
        <p:txBody>
          <a:bodyPr/>
          <a:lstStyle/>
          <a:p>
            <a:endParaRPr lang="en-AU"/>
          </a:p>
        </p:txBody>
      </p:sp>
      <p:sp>
        <p:nvSpPr>
          <p:cNvPr id="15" name="Customer heading"/>
          <p:cNvSpPr txBox="1"/>
          <p:nvPr/>
        </p:nvSpPr>
        <p:spPr>
          <a:xfrm>
            <a:off x="4983480" y="1344168"/>
            <a:ext cx="3429000" cy="685800"/>
          </a:xfrm>
          <a:prstGeom prst="rect">
            <a:avLst/>
          </a:prstGeom>
          <a:noFill/>
          <a:ln/>
        </p:spPr>
        <p:txBody>
          <a:bodyPr wrap="square" lIns="0" tIns="0" rIns="0" bIns="0" rtlCol="0" anchor="ctr"/>
          <a:lstStyle/>
          <a:p>
            <a:pPr marL="0" indent="0">
              <a:buNone/>
            </a:pPr>
            <a:r>
              <a:rPr lang="en-US" sz="1100" b="1" kern="0" spc="200" dirty="0">
                <a:solidFill>
                  <a:schemeClr val="bg1"/>
                </a:solidFill>
              </a:rPr>
              <a:t>YOU, THE CUSTOMER</a:t>
            </a:r>
            <a:endParaRPr lang="en-US" sz="1100" dirty="0"/>
          </a:p>
          <a:p>
            <a:pPr marL="0" indent="0">
              <a:buNone/>
            </a:pPr>
            <a:r>
              <a:rPr lang="en-US" sz="1800" b="1" dirty="0">
                <a:solidFill>
                  <a:schemeClr val="bg1"/>
                </a:solidFill>
              </a:rPr>
              <a:t>Security in the cloud</a:t>
            </a:r>
            <a:endParaRPr lang="en-US" sz="1100" dirty="0"/>
          </a:p>
        </p:txBody>
      </p:sp>
      <p:sp>
        <p:nvSpPr>
          <p:cNvPr id="16" name="Customer item 1 circle"/>
          <p:cNvSpPr/>
          <p:nvPr/>
        </p:nvSpPr>
        <p:spPr>
          <a:xfrm>
            <a:off x="4983480" y="2103120"/>
            <a:ext cx="402336" cy="402336"/>
          </a:xfrm>
          <a:prstGeom prst="ellipse">
            <a:avLst/>
          </a:prstGeom>
          <a:solidFill>
            <a:schemeClr val="tx2"/>
          </a:solidFill>
          <a:ln w="12700">
            <a:solidFill>
              <a:schemeClr val="tx2"/>
            </a:solidFill>
            <a:prstDash val="solid"/>
          </a:ln>
        </p:spPr>
        <p:txBody>
          <a:bodyPr/>
          <a:lstStyle/>
          <a:p>
            <a:endParaRPr lang="en-AU"/>
          </a:p>
        </p:txBody>
      </p:sp>
      <p:pic>
        <p:nvPicPr>
          <p:cNvPr id="17" name="Customer item 1 icon" descr="preencoded.png"/>
          <p:cNvPicPr>
            <a:picLocks noChangeAspect="1"/>
          </p:cNvPicPr>
          <p:nvPr/>
        </p:nvPicPr>
        <p:blipFill>
          <a:blip r:embed="rId8"/>
          <a:stretch>
            <a:fillRect/>
          </a:stretch>
        </p:blipFill>
        <p:spPr>
          <a:xfrm>
            <a:off x="5092111" y="2211751"/>
            <a:ext cx="185075" cy="185075"/>
          </a:xfrm>
          <a:prstGeom prst="rect">
            <a:avLst/>
          </a:prstGeom>
        </p:spPr>
      </p:pic>
      <p:sp>
        <p:nvSpPr>
          <p:cNvPr id="18" name="Customer item text 1"/>
          <p:cNvSpPr txBox="1"/>
          <p:nvPr/>
        </p:nvSpPr>
        <p:spPr>
          <a:xfrm>
            <a:off x="5532120" y="2103120"/>
            <a:ext cx="2926080" cy="402336"/>
          </a:xfrm>
          <a:prstGeom prst="rect">
            <a:avLst/>
          </a:prstGeom>
          <a:noFill/>
          <a:ln/>
        </p:spPr>
        <p:txBody>
          <a:bodyPr wrap="square" lIns="0" tIns="0" rIns="0" bIns="0" rtlCol="0" anchor="ctr"/>
          <a:lstStyle/>
          <a:p>
            <a:pPr marL="0" indent="0">
              <a:buNone/>
            </a:pPr>
            <a:r>
              <a:rPr lang="en-US" sz="1400" dirty="0">
                <a:solidFill>
                  <a:schemeClr val="bg1"/>
                </a:solidFill>
              </a:rPr>
              <a:t>Who can sign in: identities, MFA</a:t>
            </a:r>
            <a:endParaRPr lang="en-US" sz="1400" dirty="0"/>
          </a:p>
        </p:txBody>
      </p:sp>
      <p:sp>
        <p:nvSpPr>
          <p:cNvPr id="19" name="Customer item 2 circle"/>
          <p:cNvSpPr/>
          <p:nvPr/>
        </p:nvSpPr>
        <p:spPr>
          <a:xfrm>
            <a:off x="4983480" y="2624328"/>
            <a:ext cx="402336" cy="402336"/>
          </a:xfrm>
          <a:prstGeom prst="ellipse">
            <a:avLst/>
          </a:prstGeom>
          <a:solidFill>
            <a:schemeClr val="tx2"/>
          </a:solidFill>
          <a:ln w="12700">
            <a:solidFill>
              <a:schemeClr val="tx2"/>
            </a:solidFill>
            <a:prstDash val="solid"/>
          </a:ln>
        </p:spPr>
        <p:txBody>
          <a:bodyPr/>
          <a:lstStyle/>
          <a:p>
            <a:endParaRPr lang="en-AU"/>
          </a:p>
        </p:txBody>
      </p:sp>
      <p:pic>
        <p:nvPicPr>
          <p:cNvPr id="20" name="Customer item 2 icon" descr="preencoded.png"/>
          <p:cNvPicPr>
            <a:picLocks noChangeAspect="1"/>
          </p:cNvPicPr>
          <p:nvPr/>
        </p:nvPicPr>
        <p:blipFill>
          <a:blip r:embed="rId9"/>
          <a:stretch>
            <a:fillRect/>
          </a:stretch>
        </p:blipFill>
        <p:spPr>
          <a:xfrm>
            <a:off x="5092111" y="2732959"/>
            <a:ext cx="185075" cy="185075"/>
          </a:xfrm>
          <a:prstGeom prst="rect">
            <a:avLst/>
          </a:prstGeom>
        </p:spPr>
      </p:pic>
      <p:sp>
        <p:nvSpPr>
          <p:cNvPr id="21" name="Customer item text 2"/>
          <p:cNvSpPr txBox="1"/>
          <p:nvPr/>
        </p:nvSpPr>
        <p:spPr>
          <a:xfrm>
            <a:off x="5532120" y="2624328"/>
            <a:ext cx="2926080" cy="402336"/>
          </a:xfrm>
          <a:prstGeom prst="rect">
            <a:avLst/>
          </a:prstGeom>
          <a:noFill/>
          <a:ln/>
        </p:spPr>
        <p:txBody>
          <a:bodyPr wrap="square" lIns="0" tIns="0" rIns="0" bIns="0" rtlCol="0" anchor="ctr"/>
          <a:lstStyle/>
          <a:p>
            <a:pPr marL="0" indent="0">
              <a:buNone/>
            </a:pPr>
            <a:r>
              <a:rPr lang="en-US" sz="1400" dirty="0">
                <a:solidFill>
                  <a:schemeClr val="bg1"/>
                </a:solidFill>
              </a:rPr>
              <a:t>Whether it's reachable from the internet</a:t>
            </a:r>
            <a:endParaRPr lang="en-US" sz="1400" dirty="0"/>
          </a:p>
        </p:txBody>
      </p:sp>
      <p:sp>
        <p:nvSpPr>
          <p:cNvPr id="22" name="Customer item 3 circle"/>
          <p:cNvSpPr/>
          <p:nvPr/>
        </p:nvSpPr>
        <p:spPr>
          <a:xfrm>
            <a:off x="4983480" y="3145536"/>
            <a:ext cx="402336" cy="402336"/>
          </a:xfrm>
          <a:prstGeom prst="ellipse">
            <a:avLst/>
          </a:prstGeom>
          <a:solidFill>
            <a:schemeClr val="tx2"/>
          </a:solidFill>
          <a:ln w="12700">
            <a:solidFill>
              <a:schemeClr val="tx2"/>
            </a:solidFill>
            <a:prstDash val="solid"/>
          </a:ln>
        </p:spPr>
        <p:txBody>
          <a:bodyPr/>
          <a:lstStyle/>
          <a:p>
            <a:endParaRPr lang="en-AU"/>
          </a:p>
        </p:txBody>
      </p:sp>
      <p:pic>
        <p:nvPicPr>
          <p:cNvPr id="23" name="Customer item 3 icon" descr="preencoded.png"/>
          <p:cNvPicPr>
            <a:picLocks noChangeAspect="1"/>
          </p:cNvPicPr>
          <p:nvPr/>
        </p:nvPicPr>
        <p:blipFill>
          <a:blip r:embed="rId10"/>
          <a:stretch>
            <a:fillRect/>
          </a:stretch>
        </p:blipFill>
        <p:spPr>
          <a:xfrm>
            <a:off x="5092111" y="3254167"/>
            <a:ext cx="185075" cy="185075"/>
          </a:xfrm>
          <a:prstGeom prst="rect">
            <a:avLst/>
          </a:prstGeom>
        </p:spPr>
      </p:pic>
      <p:sp>
        <p:nvSpPr>
          <p:cNvPr id="24" name="Customer item text 3"/>
          <p:cNvSpPr txBox="1"/>
          <p:nvPr/>
        </p:nvSpPr>
        <p:spPr>
          <a:xfrm>
            <a:off x="5532120" y="3145536"/>
            <a:ext cx="2926080" cy="402336"/>
          </a:xfrm>
          <a:prstGeom prst="rect">
            <a:avLst/>
          </a:prstGeom>
          <a:noFill/>
          <a:ln/>
        </p:spPr>
        <p:txBody>
          <a:bodyPr wrap="square" lIns="0" tIns="0" rIns="0" bIns="0" rtlCol="0" anchor="ctr"/>
          <a:lstStyle/>
          <a:p>
            <a:pPr marL="0" indent="0">
              <a:buNone/>
            </a:pPr>
            <a:r>
              <a:rPr lang="en-US" sz="1400" dirty="0">
                <a:solidFill>
                  <a:schemeClr val="bg1"/>
                </a:solidFill>
              </a:rPr>
              <a:t>Encryption and key management</a:t>
            </a:r>
            <a:endParaRPr lang="en-US" sz="1400" dirty="0"/>
          </a:p>
        </p:txBody>
      </p:sp>
      <p:sp>
        <p:nvSpPr>
          <p:cNvPr id="25" name="Customer item 4 circle"/>
          <p:cNvSpPr/>
          <p:nvPr/>
        </p:nvSpPr>
        <p:spPr>
          <a:xfrm>
            <a:off x="4983480" y="3666744"/>
            <a:ext cx="402336" cy="402336"/>
          </a:xfrm>
          <a:prstGeom prst="ellipse">
            <a:avLst/>
          </a:prstGeom>
          <a:solidFill>
            <a:schemeClr val="tx2"/>
          </a:solidFill>
          <a:ln w="12700">
            <a:solidFill>
              <a:schemeClr val="tx2"/>
            </a:solidFill>
            <a:prstDash val="solid"/>
          </a:ln>
        </p:spPr>
        <p:txBody>
          <a:bodyPr/>
          <a:lstStyle/>
          <a:p>
            <a:endParaRPr lang="en-AU"/>
          </a:p>
        </p:txBody>
      </p:sp>
      <p:pic>
        <p:nvPicPr>
          <p:cNvPr id="26" name="Customer item 4 icon" descr="preencoded.png"/>
          <p:cNvPicPr>
            <a:picLocks noChangeAspect="1"/>
          </p:cNvPicPr>
          <p:nvPr/>
        </p:nvPicPr>
        <p:blipFill>
          <a:blip r:embed="rId11"/>
          <a:stretch>
            <a:fillRect/>
          </a:stretch>
        </p:blipFill>
        <p:spPr>
          <a:xfrm>
            <a:off x="5092111" y="3775375"/>
            <a:ext cx="185075" cy="185075"/>
          </a:xfrm>
          <a:prstGeom prst="rect">
            <a:avLst/>
          </a:prstGeom>
        </p:spPr>
      </p:pic>
      <p:sp>
        <p:nvSpPr>
          <p:cNvPr id="27" name="Customer item text 4"/>
          <p:cNvSpPr txBox="1"/>
          <p:nvPr/>
        </p:nvSpPr>
        <p:spPr>
          <a:xfrm>
            <a:off x="5532120" y="3666744"/>
            <a:ext cx="2926080" cy="402336"/>
          </a:xfrm>
          <a:prstGeom prst="rect">
            <a:avLst/>
          </a:prstGeom>
          <a:noFill/>
          <a:ln/>
        </p:spPr>
        <p:txBody>
          <a:bodyPr wrap="square" lIns="0" tIns="0" rIns="0" bIns="0" rtlCol="0" anchor="ctr"/>
          <a:lstStyle/>
          <a:p>
            <a:pPr marL="0" indent="0">
              <a:buNone/>
            </a:pPr>
            <a:r>
              <a:rPr lang="en-US" sz="1400" dirty="0">
                <a:solidFill>
                  <a:schemeClr val="bg1"/>
                </a:solidFill>
              </a:rPr>
              <a:t>Logging, and whether anyone reads it</a:t>
            </a:r>
            <a:endParaRPr lang="en-US" sz="1400" dirty="0"/>
          </a:p>
        </p:txBody>
      </p:sp>
      <p:sp>
        <p:nvSpPr>
          <p:cNvPr id="28" name="Sources"/>
          <p:cNvSpPr txBox="1"/>
          <p:nvPr/>
        </p:nvSpPr>
        <p:spPr>
          <a:xfrm>
            <a:off x="457200" y="4480560"/>
            <a:ext cx="8229600" cy="228600"/>
          </a:xfrm>
          <a:prstGeom prst="rect">
            <a:avLst/>
          </a:prstGeom>
          <a:noFill/>
          <a:ln/>
        </p:spPr>
        <p:txBody>
          <a:bodyPr wrap="square" lIns="0" tIns="0" rIns="0" bIns="0" rtlCol="0" anchor="ctr"/>
          <a:lstStyle/>
          <a:p>
            <a:pPr marL="0" indent="0">
              <a:buNone/>
            </a:pPr>
            <a:r>
              <a:rPr lang="en-US" sz="1000" i="1" dirty="0">
                <a:solidFill>
                  <a:schemeClr val="accent4"/>
                </a:solidFill>
              </a:rPr>
              <a:t>Sources: AWS shared responsibility model; Jansen &amp; Grance (2011), NIST SP 800-144</a:t>
            </a:r>
            <a:endParaRPr lang="en-US" sz="1000" dirty="0"/>
          </a:p>
        </p:txBody>
      </p:sp>
      <p:sp>
        <p:nvSpPr>
          <p:cNvPr id="29"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pic>
        <p:nvPicPr>
          <p:cNvPr id="37" name="Audio 36">
            <a:hlinkClick r:id="" action="ppaction://media"/>
            <a:extLst>
              <a:ext uri="{FF2B5EF4-FFF2-40B4-BE49-F238E27FC236}">
                <a16:creationId xmlns:a16="http://schemas.microsoft.com/office/drawing/2014/main" id="{9169A415-47B7-DD15-37C4-9AA10ACF7159}"/>
              </a:ext>
            </a:extLst>
          </p:cNvPr>
          <p:cNvPicPr>
            <a:picLocks noChangeAspect="1"/>
          </p:cNvPicPr>
          <p:nvPr>
            <a:audioFile r:link="rId2"/>
            <p:extLst>
              <p:ext uri="{DAA4B4D4-6D71-4841-9C94-3DE7FCFB9230}">
                <p14:media xmlns:p14="http://schemas.microsoft.com/office/powerpoint/2010/main" r:embed="rId1"/>
              </p:ext>
            </p:extLst>
          </p:nvPr>
        </p:nvPicPr>
        <p:blipFill>
          <a:blip r:embed="rId12"/>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88248"/>
    </mc:Choice>
    <mc:Fallback>
      <p:transition spd="slow" advTm="882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1"/>
                </a:solidFill>
              </a:rPr>
              <a:t>Three breaches, one pattern</a:t>
            </a:r>
            <a:endParaRPr lang="en-US" sz="3200" dirty="0"/>
          </a:p>
        </p:txBody>
      </p:sp>
      <p:sp>
        <p:nvSpPr>
          <p:cNvPr id="3" name="Case card Capital One"/>
          <p:cNvSpPr/>
          <p:nvPr/>
        </p:nvSpPr>
        <p:spPr>
          <a:xfrm>
            <a:off x="457200" y="1188720"/>
            <a:ext cx="2560320" cy="2606040"/>
          </a:xfrm>
          <a:prstGeom prst="roundRect">
            <a:avLst>
              <a:gd name="adj" fmla="val 4286"/>
            </a:avLst>
          </a:prstGeom>
          <a:solidFill>
            <a:schemeClr val="bg1"/>
          </a:solidFill>
          <a:ln w="12700">
            <a:solidFill>
              <a:schemeClr val="bg2"/>
            </a:solidFill>
            <a:prstDash val="solid"/>
          </a:ln>
          <a:effectLst>
            <a:outerShdw blurRad="127000" dist="25400" dir="5400000" algn="bl" rotWithShape="0">
              <a:srgbClr val="0B1F24">
                <a:alpha val="14000"/>
              </a:srgbClr>
            </a:outerShdw>
          </a:effectLst>
        </p:spPr>
        <p:txBody>
          <a:bodyPr/>
          <a:lstStyle/>
          <a:p>
            <a:endParaRPr lang="en-AU"/>
          </a:p>
        </p:txBody>
      </p:sp>
      <p:sp>
        <p:nvSpPr>
          <p:cNvPr id="4" name="Case Capital One circle"/>
          <p:cNvSpPr/>
          <p:nvPr/>
        </p:nvSpPr>
        <p:spPr>
          <a:xfrm>
            <a:off x="685800" y="1417320"/>
            <a:ext cx="548640" cy="548640"/>
          </a:xfrm>
          <a:prstGeom prst="ellipse">
            <a:avLst/>
          </a:prstGeom>
          <a:solidFill>
            <a:schemeClr val="accent1"/>
          </a:solidFill>
          <a:ln w="12700">
            <a:solidFill>
              <a:schemeClr val="accent1"/>
            </a:solidFill>
            <a:prstDash val="solid"/>
          </a:ln>
        </p:spPr>
        <p:txBody>
          <a:bodyPr/>
          <a:lstStyle/>
          <a:p>
            <a:endParaRPr lang="en-AU"/>
          </a:p>
        </p:txBody>
      </p:sp>
      <p:pic>
        <p:nvPicPr>
          <p:cNvPr id="5" name="Case Capital One icon" descr="preencoded.png"/>
          <p:cNvPicPr>
            <a:picLocks noChangeAspect="1"/>
          </p:cNvPicPr>
          <p:nvPr/>
        </p:nvPicPr>
        <p:blipFill>
          <a:blip r:embed="rId5"/>
          <a:stretch>
            <a:fillRect/>
          </a:stretch>
        </p:blipFill>
        <p:spPr>
          <a:xfrm>
            <a:off x="833933" y="1565453"/>
            <a:ext cx="252374" cy="252374"/>
          </a:xfrm>
          <a:prstGeom prst="rect">
            <a:avLst/>
          </a:prstGeom>
        </p:spPr>
      </p:pic>
      <p:sp>
        <p:nvSpPr>
          <p:cNvPr id="6" name="Case year Capital One"/>
          <p:cNvSpPr txBox="1"/>
          <p:nvPr/>
        </p:nvSpPr>
        <p:spPr>
          <a:xfrm>
            <a:off x="1371600" y="1463040"/>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2019</a:t>
            </a:r>
            <a:endParaRPr lang="en-US" sz="1100" dirty="0"/>
          </a:p>
        </p:txBody>
      </p:sp>
      <p:sp>
        <p:nvSpPr>
          <p:cNvPr id="7" name="Case name Capital One"/>
          <p:cNvSpPr txBox="1"/>
          <p:nvPr/>
        </p:nvSpPr>
        <p:spPr>
          <a:xfrm>
            <a:off x="1371600" y="1673352"/>
            <a:ext cx="1508760" cy="457200"/>
          </a:xfrm>
          <a:prstGeom prst="rect">
            <a:avLst/>
          </a:prstGeom>
          <a:noFill/>
          <a:ln/>
        </p:spPr>
        <p:txBody>
          <a:bodyPr wrap="square" lIns="0" tIns="0" rIns="0" bIns="0" rtlCol="0" anchor="t"/>
          <a:lstStyle/>
          <a:p>
            <a:pPr marL="0" indent="0">
              <a:buNone/>
            </a:pPr>
            <a:r>
              <a:rPr lang="en-US" sz="1400" b="1" dirty="0">
                <a:solidFill>
                  <a:schemeClr val="tx1"/>
                </a:solidFill>
              </a:rPr>
              <a:t>Capital One</a:t>
            </a:r>
            <a:endParaRPr lang="en-US" sz="1400" dirty="0"/>
          </a:p>
        </p:txBody>
      </p:sp>
      <p:sp>
        <p:nvSpPr>
          <p:cNvPr id="8" name="Case failed Capital One"/>
          <p:cNvSpPr txBox="1"/>
          <p:nvPr/>
        </p:nvSpPr>
        <p:spPr>
          <a:xfrm>
            <a:off x="685800" y="2258568"/>
            <a:ext cx="2103120" cy="868680"/>
          </a:xfrm>
          <a:prstGeom prst="rect">
            <a:avLst/>
          </a:prstGeom>
          <a:noFill/>
          <a:ln/>
        </p:spPr>
        <p:txBody>
          <a:bodyPr wrap="square" lIns="0" tIns="0" rIns="0" bIns="0" rtlCol="0" anchor="t"/>
          <a:lstStyle/>
          <a:p>
            <a:pPr marL="0" indent="0">
              <a:buNone/>
            </a:pPr>
            <a:r>
              <a:rPr lang="en-US" sz="1000" b="1" dirty="0">
                <a:solidFill>
                  <a:schemeClr val="accent4"/>
                </a:solidFill>
              </a:rPr>
              <a:t>What failed</a:t>
            </a:r>
            <a:endParaRPr lang="en-US" sz="1000" dirty="0"/>
          </a:p>
          <a:p>
            <a:pPr marL="0" indent="0">
              <a:buNone/>
            </a:pPr>
            <a:r>
              <a:rPr lang="en-US" sz="1400" dirty="0">
                <a:solidFill>
                  <a:schemeClr val="tx1"/>
                </a:solidFill>
              </a:rPr>
              <a:t>Misconfigured firewall plus an over-permissive role</a:t>
            </a:r>
            <a:endParaRPr lang="en-US" sz="1000" dirty="0"/>
          </a:p>
        </p:txBody>
      </p:sp>
      <p:sp>
        <p:nvSpPr>
          <p:cNvPr id="9" name="Case impact Capital One"/>
          <p:cNvSpPr txBox="1"/>
          <p:nvPr/>
        </p:nvSpPr>
        <p:spPr>
          <a:xfrm>
            <a:off x="685800" y="3108960"/>
            <a:ext cx="2103120" cy="621792"/>
          </a:xfrm>
          <a:prstGeom prst="rect">
            <a:avLst/>
          </a:prstGeom>
          <a:noFill/>
          <a:ln/>
        </p:spPr>
        <p:txBody>
          <a:bodyPr wrap="square" lIns="0" tIns="0" rIns="0" bIns="0" rtlCol="0" anchor="t"/>
          <a:lstStyle/>
          <a:p>
            <a:pPr marL="0" indent="0">
              <a:buNone/>
            </a:pPr>
            <a:r>
              <a:rPr lang="en-US" sz="1000" b="1" dirty="0">
                <a:solidFill>
                  <a:schemeClr val="accent4"/>
                </a:solidFill>
              </a:rPr>
              <a:t>Impact</a:t>
            </a:r>
            <a:endParaRPr lang="en-US" sz="1000" dirty="0"/>
          </a:p>
          <a:p>
            <a:pPr marL="0" indent="0">
              <a:buNone/>
            </a:pPr>
            <a:r>
              <a:rPr lang="en-US" sz="1400" dirty="0">
                <a:solidFill>
                  <a:schemeClr val="tx1"/>
                </a:solidFill>
              </a:rPr>
              <a:t>100M+ customer records read from cloud storage</a:t>
            </a:r>
            <a:endParaRPr lang="en-US" sz="1000" dirty="0"/>
          </a:p>
        </p:txBody>
      </p:sp>
      <p:sp>
        <p:nvSpPr>
          <p:cNvPr id="10" name="Case card Snowflake customers"/>
          <p:cNvSpPr/>
          <p:nvPr/>
        </p:nvSpPr>
        <p:spPr>
          <a:xfrm>
            <a:off x="3291840" y="1188720"/>
            <a:ext cx="2560320" cy="2606040"/>
          </a:xfrm>
          <a:prstGeom prst="roundRect">
            <a:avLst>
              <a:gd name="adj" fmla="val 4286"/>
            </a:avLst>
          </a:prstGeom>
          <a:solidFill>
            <a:schemeClr val="bg1"/>
          </a:solidFill>
          <a:ln w="12700">
            <a:solidFill>
              <a:schemeClr val="bg2"/>
            </a:solidFill>
            <a:prstDash val="solid"/>
          </a:ln>
          <a:effectLst>
            <a:outerShdw blurRad="127000" dist="25400" dir="5400000" algn="bl" rotWithShape="0">
              <a:srgbClr val="0B1F24">
                <a:alpha val="14000"/>
              </a:srgbClr>
            </a:outerShdw>
          </a:effectLst>
        </p:spPr>
        <p:txBody>
          <a:bodyPr/>
          <a:lstStyle/>
          <a:p>
            <a:endParaRPr lang="en-AU"/>
          </a:p>
        </p:txBody>
      </p:sp>
      <p:sp>
        <p:nvSpPr>
          <p:cNvPr id="11" name="Case Snowflake customers circle"/>
          <p:cNvSpPr/>
          <p:nvPr/>
        </p:nvSpPr>
        <p:spPr>
          <a:xfrm>
            <a:off x="3520440" y="1417320"/>
            <a:ext cx="548640" cy="548640"/>
          </a:xfrm>
          <a:prstGeom prst="ellipse">
            <a:avLst/>
          </a:prstGeom>
          <a:solidFill>
            <a:schemeClr val="accent1"/>
          </a:solidFill>
          <a:ln w="12700">
            <a:solidFill>
              <a:schemeClr val="accent1"/>
            </a:solidFill>
            <a:prstDash val="solid"/>
          </a:ln>
        </p:spPr>
        <p:txBody>
          <a:bodyPr/>
          <a:lstStyle/>
          <a:p>
            <a:endParaRPr lang="en-AU"/>
          </a:p>
        </p:txBody>
      </p:sp>
      <p:pic>
        <p:nvPicPr>
          <p:cNvPr id="12" name="Case Snowflake customers icon" descr="preencoded.png"/>
          <p:cNvPicPr>
            <a:picLocks noChangeAspect="1"/>
          </p:cNvPicPr>
          <p:nvPr/>
        </p:nvPicPr>
        <p:blipFill>
          <a:blip r:embed="rId6"/>
          <a:stretch>
            <a:fillRect/>
          </a:stretch>
        </p:blipFill>
        <p:spPr>
          <a:xfrm>
            <a:off x="3668573" y="1565453"/>
            <a:ext cx="252374" cy="252374"/>
          </a:xfrm>
          <a:prstGeom prst="rect">
            <a:avLst/>
          </a:prstGeom>
        </p:spPr>
      </p:pic>
      <p:sp>
        <p:nvSpPr>
          <p:cNvPr id="13" name="Case year Snowflake customers"/>
          <p:cNvSpPr txBox="1"/>
          <p:nvPr/>
        </p:nvSpPr>
        <p:spPr>
          <a:xfrm>
            <a:off x="4206240" y="1463040"/>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2024</a:t>
            </a:r>
            <a:endParaRPr lang="en-US" sz="1100" dirty="0"/>
          </a:p>
        </p:txBody>
      </p:sp>
      <p:sp>
        <p:nvSpPr>
          <p:cNvPr id="14" name="Case name Snowflake customers"/>
          <p:cNvSpPr txBox="1"/>
          <p:nvPr/>
        </p:nvSpPr>
        <p:spPr>
          <a:xfrm>
            <a:off x="4206240" y="1673352"/>
            <a:ext cx="1508760" cy="457200"/>
          </a:xfrm>
          <a:prstGeom prst="rect">
            <a:avLst/>
          </a:prstGeom>
          <a:noFill/>
          <a:ln/>
        </p:spPr>
        <p:txBody>
          <a:bodyPr wrap="square" lIns="0" tIns="0" rIns="0" bIns="0" rtlCol="0" anchor="t"/>
          <a:lstStyle/>
          <a:p>
            <a:pPr marL="0" indent="0">
              <a:buNone/>
            </a:pPr>
            <a:r>
              <a:rPr lang="en-US" sz="1400" b="1" dirty="0">
                <a:solidFill>
                  <a:schemeClr val="tx1"/>
                </a:solidFill>
              </a:rPr>
              <a:t>Snowflake customers</a:t>
            </a:r>
            <a:endParaRPr lang="en-US" sz="1400" dirty="0"/>
          </a:p>
        </p:txBody>
      </p:sp>
      <p:sp>
        <p:nvSpPr>
          <p:cNvPr id="15" name="Case failed Snowflake customers"/>
          <p:cNvSpPr txBox="1"/>
          <p:nvPr/>
        </p:nvSpPr>
        <p:spPr>
          <a:xfrm>
            <a:off x="3520440" y="2258568"/>
            <a:ext cx="2103120" cy="868680"/>
          </a:xfrm>
          <a:prstGeom prst="rect">
            <a:avLst/>
          </a:prstGeom>
          <a:noFill/>
          <a:ln/>
        </p:spPr>
        <p:txBody>
          <a:bodyPr wrap="square" lIns="0" tIns="0" rIns="0" bIns="0" rtlCol="0" anchor="t"/>
          <a:lstStyle/>
          <a:p>
            <a:pPr marL="0" indent="0">
              <a:buNone/>
            </a:pPr>
            <a:r>
              <a:rPr lang="en-US" sz="1000" b="1" dirty="0">
                <a:solidFill>
                  <a:schemeClr val="accent4"/>
                </a:solidFill>
              </a:rPr>
              <a:t>What failed</a:t>
            </a:r>
            <a:endParaRPr lang="en-US" sz="1000" dirty="0"/>
          </a:p>
          <a:p>
            <a:pPr marL="0" indent="0">
              <a:buNone/>
            </a:pPr>
            <a:r>
              <a:rPr lang="en-US" sz="1400" dirty="0">
                <a:solidFill>
                  <a:schemeClr val="tx1"/>
                </a:solidFill>
              </a:rPr>
              <a:t>Stolen passwords, no MFA, no network allow-list</a:t>
            </a:r>
            <a:endParaRPr lang="en-US" sz="1000" dirty="0"/>
          </a:p>
        </p:txBody>
      </p:sp>
      <p:sp>
        <p:nvSpPr>
          <p:cNvPr id="16" name="Case impact Snowflake customers"/>
          <p:cNvSpPr txBox="1"/>
          <p:nvPr/>
        </p:nvSpPr>
        <p:spPr>
          <a:xfrm>
            <a:off x="3520440" y="3108960"/>
            <a:ext cx="2103120" cy="621792"/>
          </a:xfrm>
          <a:prstGeom prst="rect">
            <a:avLst/>
          </a:prstGeom>
          <a:noFill/>
          <a:ln/>
        </p:spPr>
        <p:txBody>
          <a:bodyPr wrap="square" lIns="0" tIns="0" rIns="0" bIns="0" rtlCol="0" anchor="t"/>
          <a:lstStyle/>
          <a:p>
            <a:pPr marL="0" indent="0">
              <a:buNone/>
            </a:pPr>
            <a:r>
              <a:rPr lang="en-US" sz="1000" b="1" dirty="0">
                <a:solidFill>
                  <a:schemeClr val="accent4"/>
                </a:solidFill>
              </a:rPr>
              <a:t>Impact</a:t>
            </a:r>
            <a:endParaRPr lang="en-US" sz="1000" dirty="0"/>
          </a:p>
          <a:p>
            <a:pPr marL="0" indent="0">
              <a:buNone/>
            </a:pPr>
            <a:r>
              <a:rPr lang="en-US" sz="1400" dirty="0">
                <a:solidFill>
                  <a:schemeClr val="tx1"/>
                </a:solidFill>
              </a:rPr>
              <a:t>About 165 organisations notified</a:t>
            </a:r>
            <a:endParaRPr lang="en-US" sz="1000" dirty="0"/>
          </a:p>
        </p:txBody>
      </p:sp>
      <p:sp>
        <p:nvSpPr>
          <p:cNvPr id="17" name="Case card Microsoft · Midnight Blizzard"/>
          <p:cNvSpPr/>
          <p:nvPr/>
        </p:nvSpPr>
        <p:spPr>
          <a:xfrm>
            <a:off x="6126480" y="1188720"/>
            <a:ext cx="2560320" cy="2606040"/>
          </a:xfrm>
          <a:prstGeom prst="roundRect">
            <a:avLst>
              <a:gd name="adj" fmla="val 4286"/>
            </a:avLst>
          </a:prstGeom>
          <a:solidFill>
            <a:schemeClr val="bg1"/>
          </a:solidFill>
          <a:ln w="12700">
            <a:solidFill>
              <a:schemeClr val="bg2"/>
            </a:solidFill>
            <a:prstDash val="solid"/>
          </a:ln>
          <a:effectLst>
            <a:outerShdw blurRad="127000" dist="25400" dir="5400000" algn="bl" rotWithShape="0">
              <a:srgbClr val="0B1F24">
                <a:alpha val="14000"/>
              </a:srgbClr>
            </a:outerShdw>
          </a:effectLst>
        </p:spPr>
        <p:txBody>
          <a:bodyPr/>
          <a:lstStyle/>
          <a:p>
            <a:endParaRPr lang="en-AU"/>
          </a:p>
        </p:txBody>
      </p:sp>
      <p:sp>
        <p:nvSpPr>
          <p:cNvPr id="18" name="Case Microsoft · Midnight Blizzard circle"/>
          <p:cNvSpPr/>
          <p:nvPr/>
        </p:nvSpPr>
        <p:spPr>
          <a:xfrm>
            <a:off x="6355080" y="1417320"/>
            <a:ext cx="548640" cy="548640"/>
          </a:xfrm>
          <a:prstGeom prst="ellipse">
            <a:avLst/>
          </a:prstGeom>
          <a:solidFill>
            <a:schemeClr val="accent1"/>
          </a:solidFill>
          <a:ln w="12700">
            <a:solidFill>
              <a:schemeClr val="accent1"/>
            </a:solidFill>
            <a:prstDash val="solid"/>
          </a:ln>
        </p:spPr>
        <p:txBody>
          <a:bodyPr/>
          <a:lstStyle/>
          <a:p>
            <a:endParaRPr lang="en-AU"/>
          </a:p>
        </p:txBody>
      </p:sp>
      <p:pic>
        <p:nvPicPr>
          <p:cNvPr id="19" name="Case Microsoft · Midnight Blizzard icon" descr="preencoded.png"/>
          <p:cNvPicPr>
            <a:picLocks noChangeAspect="1"/>
          </p:cNvPicPr>
          <p:nvPr/>
        </p:nvPicPr>
        <p:blipFill>
          <a:blip r:embed="rId7"/>
          <a:stretch>
            <a:fillRect/>
          </a:stretch>
        </p:blipFill>
        <p:spPr>
          <a:xfrm>
            <a:off x="6503213" y="1565453"/>
            <a:ext cx="252374" cy="252374"/>
          </a:xfrm>
          <a:prstGeom prst="rect">
            <a:avLst/>
          </a:prstGeom>
        </p:spPr>
      </p:pic>
      <p:sp>
        <p:nvSpPr>
          <p:cNvPr id="20" name="Case year Microsoft · Midnight Blizzard"/>
          <p:cNvSpPr txBox="1"/>
          <p:nvPr/>
        </p:nvSpPr>
        <p:spPr>
          <a:xfrm>
            <a:off x="7040880" y="1463040"/>
            <a:ext cx="1463040" cy="228600"/>
          </a:xfrm>
          <a:prstGeom prst="rect">
            <a:avLst/>
          </a:prstGeom>
          <a:noFill/>
          <a:ln/>
        </p:spPr>
        <p:txBody>
          <a:bodyPr wrap="square" lIns="0" tIns="0" rIns="0" bIns="0" rtlCol="0" anchor="ctr"/>
          <a:lstStyle/>
          <a:p>
            <a:pPr marL="0" indent="0">
              <a:buNone/>
            </a:pPr>
            <a:r>
              <a:rPr lang="en-US" sz="1100" b="1" dirty="0">
                <a:solidFill>
                  <a:schemeClr val="accent2"/>
                </a:solidFill>
              </a:rPr>
              <a:t>2024</a:t>
            </a:r>
            <a:endParaRPr lang="en-US" sz="1100" dirty="0"/>
          </a:p>
        </p:txBody>
      </p:sp>
      <p:sp>
        <p:nvSpPr>
          <p:cNvPr id="21" name="Case name Microsoft · Midnight Blizzard"/>
          <p:cNvSpPr txBox="1"/>
          <p:nvPr/>
        </p:nvSpPr>
        <p:spPr>
          <a:xfrm>
            <a:off x="7040880" y="1673352"/>
            <a:ext cx="1508760" cy="457200"/>
          </a:xfrm>
          <a:prstGeom prst="rect">
            <a:avLst/>
          </a:prstGeom>
          <a:noFill/>
          <a:ln/>
        </p:spPr>
        <p:txBody>
          <a:bodyPr wrap="square" lIns="0" tIns="0" rIns="0" bIns="0" rtlCol="0" anchor="t"/>
          <a:lstStyle/>
          <a:p>
            <a:pPr marL="0" indent="0">
              <a:buNone/>
            </a:pPr>
            <a:r>
              <a:rPr lang="en-US" sz="1400" b="1" dirty="0">
                <a:solidFill>
                  <a:schemeClr val="tx1"/>
                </a:solidFill>
              </a:rPr>
              <a:t>Microsoft · Midnight Blizzard</a:t>
            </a:r>
            <a:endParaRPr lang="en-US" sz="1400" dirty="0"/>
          </a:p>
        </p:txBody>
      </p:sp>
      <p:sp>
        <p:nvSpPr>
          <p:cNvPr id="22" name="Case failed Microsoft · Midnight Blizzard"/>
          <p:cNvSpPr txBox="1"/>
          <p:nvPr/>
        </p:nvSpPr>
        <p:spPr>
          <a:xfrm>
            <a:off x="6355080" y="2258568"/>
            <a:ext cx="2103120" cy="868680"/>
          </a:xfrm>
          <a:prstGeom prst="rect">
            <a:avLst/>
          </a:prstGeom>
          <a:noFill/>
          <a:ln/>
        </p:spPr>
        <p:txBody>
          <a:bodyPr wrap="square" lIns="0" tIns="0" rIns="0" bIns="0" rtlCol="0" anchor="t"/>
          <a:lstStyle/>
          <a:p>
            <a:pPr marL="0" indent="0">
              <a:buNone/>
            </a:pPr>
            <a:r>
              <a:rPr lang="en-US" sz="1000" b="1" dirty="0">
                <a:solidFill>
                  <a:schemeClr val="accent4"/>
                </a:solidFill>
              </a:rPr>
              <a:t>What failed</a:t>
            </a:r>
            <a:endParaRPr lang="en-US" sz="1000" dirty="0"/>
          </a:p>
          <a:p>
            <a:pPr marL="0" indent="0">
              <a:buNone/>
            </a:pPr>
            <a:r>
              <a:rPr lang="en-US" sz="1400" dirty="0">
                <a:solidFill>
                  <a:schemeClr val="tx1"/>
                </a:solidFill>
              </a:rPr>
              <a:t>Password spray on a forgotten test account without MFA</a:t>
            </a:r>
            <a:endParaRPr lang="en-US" sz="1000" dirty="0"/>
          </a:p>
        </p:txBody>
      </p:sp>
      <p:sp>
        <p:nvSpPr>
          <p:cNvPr id="23" name="Case impact Microsoft · Midnight Blizzard"/>
          <p:cNvSpPr txBox="1"/>
          <p:nvPr/>
        </p:nvSpPr>
        <p:spPr>
          <a:xfrm>
            <a:off x="6355080" y="3108960"/>
            <a:ext cx="2103120" cy="621792"/>
          </a:xfrm>
          <a:prstGeom prst="rect">
            <a:avLst/>
          </a:prstGeom>
          <a:noFill/>
          <a:ln/>
        </p:spPr>
        <p:txBody>
          <a:bodyPr wrap="square" lIns="0" tIns="0" rIns="0" bIns="0" rtlCol="0" anchor="t"/>
          <a:lstStyle/>
          <a:p>
            <a:pPr marL="0" indent="0">
              <a:buNone/>
            </a:pPr>
            <a:r>
              <a:rPr lang="en-US" sz="1000" b="1" dirty="0">
                <a:solidFill>
                  <a:schemeClr val="accent4"/>
                </a:solidFill>
              </a:rPr>
              <a:t>Impact</a:t>
            </a:r>
            <a:endParaRPr lang="en-US" sz="1000" dirty="0"/>
          </a:p>
          <a:p>
            <a:pPr marL="0" indent="0">
              <a:buNone/>
            </a:pPr>
            <a:r>
              <a:rPr lang="en-US" sz="1400" dirty="0">
                <a:solidFill>
                  <a:schemeClr val="tx1"/>
                </a:solidFill>
              </a:rPr>
              <a:t>Foothold into senior leaders' email</a:t>
            </a:r>
            <a:endParaRPr lang="en-US" sz="1000" dirty="0"/>
          </a:p>
        </p:txBody>
      </p:sp>
      <p:sp>
        <p:nvSpPr>
          <p:cNvPr id="24" name="Takeaway panel"/>
          <p:cNvSpPr/>
          <p:nvPr/>
        </p:nvSpPr>
        <p:spPr>
          <a:xfrm>
            <a:off x="457200" y="3977640"/>
            <a:ext cx="8229600" cy="548640"/>
          </a:xfrm>
          <a:prstGeom prst="roundRect">
            <a:avLst>
              <a:gd name="adj" fmla="val 20000"/>
            </a:avLst>
          </a:prstGeom>
          <a:solidFill>
            <a:schemeClr val="tx1"/>
          </a:solidFill>
          <a:ln w="12700">
            <a:solidFill>
              <a:schemeClr val="tx1"/>
            </a:solidFill>
            <a:prstDash val="solid"/>
          </a:ln>
        </p:spPr>
        <p:txBody>
          <a:bodyPr/>
          <a:lstStyle/>
          <a:p>
            <a:endParaRPr lang="en-AU"/>
          </a:p>
        </p:txBody>
      </p:sp>
      <p:pic>
        <p:nvPicPr>
          <p:cNvPr id="25" name="Takeaway icon" descr="preencoded.png"/>
          <p:cNvPicPr>
            <a:picLocks noChangeAspect="1"/>
          </p:cNvPicPr>
          <p:nvPr/>
        </p:nvPicPr>
        <p:blipFill>
          <a:blip r:embed="rId8"/>
          <a:stretch>
            <a:fillRect/>
          </a:stretch>
        </p:blipFill>
        <p:spPr>
          <a:xfrm>
            <a:off x="685800" y="4096512"/>
            <a:ext cx="310896" cy="310896"/>
          </a:xfrm>
          <a:prstGeom prst="rect">
            <a:avLst/>
          </a:prstGeom>
        </p:spPr>
      </p:pic>
      <p:sp>
        <p:nvSpPr>
          <p:cNvPr id="26" name="Takeaway text"/>
          <p:cNvSpPr txBox="1"/>
          <p:nvPr/>
        </p:nvSpPr>
        <p:spPr>
          <a:xfrm>
            <a:off x="1143000" y="3977640"/>
            <a:ext cx="7315200" cy="548640"/>
          </a:xfrm>
          <a:prstGeom prst="rect">
            <a:avLst/>
          </a:prstGeom>
          <a:noFill/>
          <a:ln/>
        </p:spPr>
        <p:txBody>
          <a:bodyPr wrap="square" lIns="0" tIns="0" rIns="0" bIns="0" rtlCol="0" anchor="ctr"/>
          <a:lstStyle/>
          <a:p>
            <a:pPr marL="0" indent="0">
              <a:buNone/>
            </a:pPr>
            <a:r>
              <a:rPr lang="en-US" sz="1500" b="1" dirty="0">
                <a:solidFill>
                  <a:schemeClr val="accent6"/>
                </a:solidFill>
              </a:rPr>
              <a:t>Every time, the provider's platform held. </a:t>
            </a:r>
            <a:r>
              <a:rPr lang="en-US" sz="1500" dirty="0">
                <a:solidFill>
                  <a:schemeClr val="bg1"/>
                </a:solidFill>
              </a:rPr>
              <a:t>What failed was the customer's half.</a:t>
            </a:r>
            <a:endParaRPr lang="en-US" sz="1500" dirty="0"/>
          </a:p>
        </p:txBody>
      </p:sp>
      <p:sp>
        <p:nvSpPr>
          <p:cNvPr id="27"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pic>
        <p:nvPicPr>
          <p:cNvPr id="31" name="Audio 30">
            <a:hlinkClick r:id="" action="ppaction://media"/>
            <a:extLst>
              <a:ext uri="{FF2B5EF4-FFF2-40B4-BE49-F238E27FC236}">
                <a16:creationId xmlns:a16="http://schemas.microsoft.com/office/drawing/2014/main" id="{6C16F54E-85A1-1053-BE9F-E27153EBB2C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86874"/>
    </mc:Choice>
    <mc:Fallback>
      <p:transition spd="slow" advTm="868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1"/>
                </a:solidFill>
              </a:rPr>
              <a:t>Every control fails somewhere</a:t>
            </a:r>
            <a:endParaRPr lang="en-US" sz="3200" dirty="0"/>
          </a:p>
        </p:txBody>
      </p:sp>
      <p:sp>
        <p:nvSpPr>
          <p:cNvPr id="3" name="Header control"/>
          <p:cNvSpPr txBox="1"/>
          <p:nvPr/>
        </p:nvSpPr>
        <p:spPr>
          <a:xfrm>
            <a:off x="1097280" y="1097280"/>
            <a:ext cx="2103120" cy="228600"/>
          </a:xfrm>
          <a:prstGeom prst="rect">
            <a:avLst/>
          </a:prstGeom>
          <a:noFill/>
          <a:ln/>
        </p:spPr>
        <p:txBody>
          <a:bodyPr wrap="square" lIns="0" tIns="0" rIns="0" bIns="0" rtlCol="0" anchor="ctr"/>
          <a:lstStyle/>
          <a:p>
            <a:pPr marL="0" indent="0">
              <a:buNone/>
            </a:pPr>
            <a:r>
              <a:rPr lang="en-US" sz="1000" b="1" kern="0" spc="200" dirty="0">
                <a:solidFill>
                  <a:schemeClr val="accent4"/>
                </a:solidFill>
              </a:rPr>
              <a:t>CONTROL</a:t>
            </a:r>
            <a:endParaRPr lang="en-US" sz="1000" dirty="0"/>
          </a:p>
        </p:txBody>
      </p:sp>
      <p:sp>
        <p:nvSpPr>
          <p:cNvPr id="4" name="Header stops"/>
          <p:cNvSpPr txBox="1"/>
          <p:nvPr/>
        </p:nvSpPr>
        <p:spPr>
          <a:xfrm>
            <a:off x="3291840" y="1097280"/>
            <a:ext cx="2560320" cy="228600"/>
          </a:xfrm>
          <a:prstGeom prst="rect">
            <a:avLst/>
          </a:prstGeom>
          <a:noFill/>
          <a:ln/>
        </p:spPr>
        <p:txBody>
          <a:bodyPr wrap="square" lIns="0" tIns="0" rIns="0" bIns="0" rtlCol="0" anchor="ctr"/>
          <a:lstStyle/>
          <a:p>
            <a:pPr marL="0" indent="0">
              <a:buNone/>
            </a:pPr>
            <a:r>
              <a:rPr lang="en-US" sz="1000" b="1" kern="0" spc="200" dirty="0">
                <a:solidFill>
                  <a:schemeClr val="accent1"/>
                </a:solidFill>
              </a:rPr>
              <a:t>STOPS</a:t>
            </a:r>
            <a:endParaRPr lang="en-US" sz="1000" dirty="0"/>
          </a:p>
        </p:txBody>
      </p:sp>
      <p:sp>
        <p:nvSpPr>
          <p:cNvPr id="5" name="Header fails"/>
          <p:cNvSpPr txBox="1"/>
          <p:nvPr/>
        </p:nvSpPr>
        <p:spPr>
          <a:xfrm>
            <a:off x="5943600" y="1097280"/>
            <a:ext cx="2743200" cy="228600"/>
          </a:xfrm>
          <a:prstGeom prst="rect">
            <a:avLst/>
          </a:prstGeom>
          <a:noFill/>
          <a:ln/>
        </p:spPr>
        <p:txBody>
          <a:bodyPr wrap="square" lIns="0" tIns="0" rIns="0" bIns="0" rtlCol="0" anchor="ctr"/>
          <a:lstStyle/>
          <a:p>
            <a:pPr marL="0" indent="0">
              <a:buNone/>
            </a:pPr>
            <a:r>
              <a:rPr lang="en-US" sz="1000" b="1" kern="0" spc="200" dirty="0">
                <a:solidFill>
                  <a:schemeClr val="accent3"/>
                </a:solidFill>
              </a:rPr>
              <a:t>FAILS WHEN</a:t>
            </a:r>
            <a:endParaRPr lang="en-US" sz="1000" dirty="0"/>
          </a:p>
        </p:txBody>
      </p:sp>
      <p:sp>
        <p:nvSpPr>
          <p:cNvPr id="6" name="Row tint Identity &amp; MFA"/>
          <p:cNvSpPr/>
          <p:nvPr/>
        </p:nvSpPr>
        <p:spPr>
          <a:xfrm>
            <a:off x="457200" y="1417320"/>
            <a:ext cx="8229600" cy="548640"/>
          </a:xfrm>
          <a:prstGeom prst="roundRect">
            <a:avLst>
              <a:gd name="adj" fmla="val 13333"/>
            </a:avLst>
          </a:prstGeom>
          <a:solidFill>
            <a:schemeClr val="bg2"/>
          </a:solidFill>
          <a:ln w="12700">
            <a:solidFill>
              <a:schemeClr val="bg2"/>
            </a:solidFill>
            <a:prstDash val="solid"/>
          </a:ln>
        </p:spPr>
        <p:txBody>
          <a:bodyPr/>
          <a:lstStyle/>
          <a:p>
            <a:endParaRPr lang="en-AU"/>
          </a:p>
        </p:txBody>
      </p:sp>
      <p:sp>
        <p:nvSpPr>
          <p:cNvPr id="7" name="Control Identity &amp; MFA circle"/>
          <p:cNvSpPr/>
          <p:nvPr/>
        </p:nvSpPr>
        <p:spPr>
          <a:xfrm>
            <a:off x="566928" y="1472184"/>
            <a:ext cx="438912" cy="438912"/>
          </a:xfrm>
          <a:prstGeom prst="ellipse">
            <a:avLst/>
          </a:prstGeom>
          <a:solidFill>
            <a:schemeClr val="accent1"/>
          </a:solidFill>
          <a:ln w="12700">
            <a:solidFill>
              <a:schemeClr val="accent1"/>
            </a:solidFill>
            <a:prstDash val="solid"/>
          </a:ln>
        </p:spPr>
        <p:txBody>
          <a:bodyPr/>
          <a:lstStyle/>
          <a:p>
            <a:endParaRPr lang="en-AU"/>
          </a:p>
        </p:txBody>
      </p:sp>
      <p:pic>
        <p:nvPicPr>
          <p:cNvPr id="8" name="Control Identity &amp; MFA icon" descr="preencoded.png"/>
          <p:cNvPicPr>
            <a:picLocks noChangeAspect="1"/>
          </p:cNvPicPr>
          <p:nvPr/>
        </p:nvPicPr>
        <p:blipFill>
          <a:blip r:embed="rId5"/>
          <a:stretch>
            <a:fillRect/>
          </a:stretch>
        </p:blipFill>
        <p:spPr>
          <a:xfrm>
            <a:off x="685434" y="1590690"/>
            <a:ext cx="201900" cy="201900"/>
          </a:xfrm>
          <a:prstGeom prst="rect">
            <a:avLst/>
          </a:prstGeom>
        </p:spPr>
      </p:pic>
      <p:sp>
        <p:nvSpPr>
          <p:cNvPr id="9" name="Control name Identity &amp;amp; MFA"/>
          <p:cNvSpPr txBox="1"/>
          <p:nvPr/>
        </p:nvSpPr>
        <p:spPr>
          <a:xfrm>
            <a:off x="1097280" y="1417320"/>
            <a:ext cx="2103120" cy="548640"/>
          </a:xfrm>
          <a:prstGeom prst="rect">
            <a:avLst/>
          </a:prstGeom>
          <a:noFill/>
          <a:ln/>
        </p:spPr>
        <p:txBody>
          <a:bodyPr wrap="square" lIns="0" tIns="0" rIns="0" bIns="0" rtlCol="0" anchor="ctr"/>
          <a:lstStyle/>
          <a:p>
            <a:pPr marL="0" indent="0">
              <a:buNone/>
            </a:pPr>
            <a:r>
              <a:rPr lang="en-US" sz="1500" b="1" dirty="0">
                <a:solidFill>
                  <a:schemeClr val="tx1"/>
                </a:solidFill>
              </a:rPr>
              <a:t>Identity &amp; MFA</a:t>
            </a:r>
            <a:endParaRPr lang="en-US" sz="1500" dirty="0"/>
          </a:p>
        </p:txBody>
      </p:sp>
      <p:sp>
        <p:nvSpPr>
          <p:cNvPr id="10" name="Control stops Identity &amp;amp; MFA"/>
          <p:cNvSpPr txBox="1"/>
          <p:nvPr/>
        </p:nvSpPr>
        <p:spPr>
          <a:xfrm>
            <a:off x="3291840" y="1417320"/>
            <a:ext cx="2560320" cy="548640"/>
          </a:xfrm>
          <a:prstGeom prst="rect">
            <a:avLst/>
          </a:prstGeom>
          <a:noFill/>
          <a:ln/>
        </p:spPr>
        <p:txBody>
          <a:bodyPr wrap="square" lIns="0" tIns="0" rIns="0" bIns="0" rtlCol="0" anchor="ctr"/>
          <a:lstStyle/>
          <a:p>
            <a:pPr marL="0" indent="0">
              <a:buNone/>
            </a:pPr>
            <a:r>
              <a:rPr lang="en-US" sz="1400" dirty="0">
                <a:solidFill>
                  <a:schemeClr val="tx1"/>
                </a:solidFill>
              </a:rPr>
              <a:t>Stolen or guessed passwords</a:t>
            </a:r>
            <a:endParaRPr lang="en-US" sz="1400" dirty="0"/>
          </a:p>
        </p:txBody>
      </p:sp>
      <p:sp>
        <p:nvSpPr>
          <p:cNvPr id="11" name="Control fails Identity &amp;amp; MFA"/>
          <p:cNvSpPr txBox="1"/>
          <p:nvPr/>
        </p:nvSpPr>
        <p:spPr>
          <a:xfrm>
            <a:off x="5943600" y="1417320"/>
            <a:ext cx="2697480" cy="548640"/>
          </a:xfrm>
          <a:prstGeom prst="rect">
            <a:avLst/>
          </a:prstGeom>
          <a:noFill/>
          <a:ln/>
        </p:spPr>
        <p:txBody>
          <a:bodyPr wrap="square" lIns="0" tIns="0" rIns="0" bIns="0" rtlCol="0" anchor="ctr"/>
          <a:lstStyle/>
          <a:p>
            <a:pPr marL="0" indent="0">
              <a:buNone/>
            </a:pPr>
            <a:r>
              <a:rPr lang="en-US" sz="1400" dirty="0">
                <a:solidFill>
                  <a:schemeClr val="tx1"/>
                </a:solidFill>
              </a:rPr>
              <a:t>An account nobody owns is left out</a:t>
            </a:r>
            <a:endParaRPr lang="en-US" sz="1400" dirty="0"/>
          </a:p>
        </p:txBody>
      </p:sp>
      <p:sp>
        <p:nvSpPr>
          <p:cNvPr id="12" name="Control Network isolation circle"/>
          <p:cNvSpPr/>
          <p:nvPr/>
        </p:nvSpPr>
        <p:spPr>
          <a:xfrm>
            <a:off x="566928" y="2075688"/>
            <a:ext cx="438912" cy="438912"/>
          </a:xfrm>
          <a:prstGeom prst="ellipse">
            <a:avLst/>
          </a:prstGeom>
          <a:solidFill>
            <a:schemeClr val="accent1"/>
          </a:solidFill>
          <a:ln w="12700">
            <a:solidFill>
              <a:schemeClr val="accent1"/>
            </a:solidFill>
            <a:prstDash val="solid"/>
          </a:ln>
        </p:spPr>
        <p:txBody>
          <a:bodyPr/>
          <a:lstStyle/>
          <a:p>
            <a:endParaRPr lang="en-AU"/>
          </a:p>
        </p:txBody>
      </p:sp>
      <p:pic>
        <p:nvPicPr>
          <p:cNvPr id="13" name="Control Network isolation icon" descr="preencoded.png"/>
          <p:cNvPicPr>
            <a:picLocks noChangeAspect="1"/>
          </p:cNvPicPr>
          <p:nvPr/>
        </p:nvPicPr>
        <p:blipFill>
          <a:blip r:embed="rId6"/>
          <a:stretch>
            <a:fillRect/>
          </a:stretch>
        </p:blipFill>
        <p:spPr>
          <a:xfrm>
            <a:off x="685434" y="2194194"/>
            <a:ext cx="201900" cy="201900"/>
          </a:xfrm>
          <a:prstGeom prst="rect">
            <a:avLst/>
          </a:prstGeom>
        </p:spPr>
      </p:pic>
      <p:sp>
        <p:nvSpPr>
          <p:cNvPr id="14" name="Control name Network isolation"/>
          <p:cNvSpPr txBox="1"/>
          <p:nvPr/>
        </p:nvSpPr>
        <p:spPr>
          <a:xfrm>
            <a:off x="1097280" y="2020824"/>
            <a:ext cx="2103120" cy="548640"/>
          </a:xfrm>
          <a:prstGeom prst="rect">
            <a:avLst/>
          </a:prstGeom>
          <a:noFill/>
          <a:ln/>
        </p:spPr>
        <p:txBody>
          <a:bodyPr wrap="square" lIns="0" tIns="0" rIns="0" bIns="0" rtlCol="0" anchor="ctr"/>
          <a:lstStyle/>
          <a:p>
            <a:pPr marL="0" indent="0">
              <a:buNone/>
            </a:pPr>
            <a:r>
              <a:rPr lang="en-US" sz="1500" b="1" dirty="0">
                <a:solidFill>
                  <a:schemeClr val="tx1"/>
                </a:solidFill>
              </a:rPr>
              <a:t>Network isolation</a:t>
            </a:r>
            <a:endParaRPr lang="en-US" sz="1500" dirty="0"/>
          </a:p>
        </p:txBody>
      </p:sp>
      <p:sp>
        <p:nvSpPr>
          <p:cNvPr id="15" name="Control stops Network isolation"/>
          <p:cNvSpPr txBox="1"/>
          <p:nvPr/>
        </p:nvSpPr>
        <p:spPr>
          <a:xfrm>
            <a:off x="3291840" y="2020824"/>
            <a:ext cx="2560320" cy="548640"/>
          </a:xfrm>
          <a:prstGeom prst="rect">
            <a:avLst/>
          </a:prstGeom>
          <a:noFill/>
          <a:ln/>
        </p:spPr>
        <p:txBody>
          <a:bodyPr wrap="square" lIns="0" tIns="0" rIns="0" bIns="0" rtlCol="0" anchor="ctr"/>
          <a:lstStyle/>
          <a:p>
            <a:pPr marL="0" indent="0">
              <a:buNone/>
            </a:pPr>
            <a:r>
              <a:rPr lang="en-US" sz="1400" dirty="0">
                <a:solidFill>
                  <a:schemeClr val="tx1"/>
                </a:solidFill>
              </a:rPr>
              <a:t>Sign-ins from untrusted places</a:t>
            </a:r>
            <a:endParaRPr lang="en-US" sz="1400" dirty="0"/>
          </a:p>
        </p:txBody>
      </p:sp>
      <p:sp>
        <p:nvSpPr>
          <p:cNvPr id="16" name="Control fails Network isolation"/>
          <p:cNvSpPr txBox="1"/>
          <p:nvPr/>
        </p:nvSpPr>
        <p:spPr>
          <a:xfrm>
            <a:off x="5943600" y="2020824"/>
            <a:ext cx="2697480" cy="548640"/>
          </a:xfrm>
          <a:prstGeom prst="rect">
            <a:avLst/>
          </a:prstGeom>
          <a:noFill/>
          <a:ln/>
        </p:spPr>
        <p:txBody>
          <a:bodyPr wrap="square" lIns="0" tIns="0" rIns="0" bIns="0" rtlCol="0" anchor="ctr"/>
          <a:lstStyle/>
          <a:p>
            <a:pPr marL="0" indent="0">
              <a:buNone/>
            </a:pPr>
            <a:r>
              <a:rPr lang="en-US" sz="1400" dirty="0">
                <a:solidFill>
                  <a:schemeClr val="tx1"/>
                </a:solidFill>
              </a:rPr>
              <a:t>One setting change opens it up</a:t>
            </a:r>
            <a:endParaRPr lang="en-US" sz="1400" dirty="0"/>
          </a:p>
        </p:txBody>
      </p:sp>
      <p:sp>
        <p:nvSpPr>
          <p:cNvPr id="17" name="Row tint Encryption"/>
          <p:cNvSpPr/>
          <p:nvPr/>
        </p:nvSpPr>
        <p:spPr>
          <a:xfrm>
            <a:off x="457200" y="2624328"/>
            <a:ext cx="8229600" cy="548640"/>
          </a:xfrm>
          <a:prstGeom prst="roundRect">
            <a:avLst>
              <a:gd name="adj" fmla="val 13333"/>
            </a:avLst>
          </a:prstGeom>
          <a:solidFill>
            <a:schemeClr val="bg2"/>
          </a:solidFill>
          <a:ln w="12700">
            <a:solidFill>
              <a:schemeClr val="bg2"/>
            </a:solidFill>
            <a:prstDash val="solid"/>
          </a:ln>
        </p:spPr>
        <p:txBody>
          <a:bodyPr/>
          <a:lstStyle/>
          <a:p>
            <a:endParaRPr lang="en-AU"/>
          </a:p>
        </p:txBody>
      </p:sp>
      <p:sp>
        <p:nvSpPr>
          <p:cNvPr id="18" name="Control Encryption circle"/>
          <p:cNvSpPr/>
          <p:nvPr/>
        </p:nvSpPr>
        <p:spPr>
          <a:xfrm>
            <a:off x="566928" y="2679192"/>
            <a:ext cx="438912" cy="438912"/>
          </a:xfrm>
          <a:prstGeom prst="ellipse">
            <a:avLst/>
          </a:prstGeom>
          <a:solidFill>
            <a:schemeClr val="accent1"/>
          </a:solidFill>
          <a:ln w="12700">
            <a:solidFill>
              <a:schemeClr val="accent1"/>
            </a:solidFill>
            <a:prstDash val="solid"/>
          </a:ln>
        </p:spPr>
        <p:txBody>
          <a:bodyPr/>
          <a:lstStyle/>
          <a:p>
            <a:endParaRPr lang="en-AU"/>
          </a:p>
        </p:txBody>
      </p:sp>
      <p:pic>
        <p:nvPicPr>
          <p:cNvPr id="19" name="Control Encryption icon" descr="preencoded.png"/>
          <p:cNvPicPr>
            <a:picLocks noChangeAspect="1"/>
          </p:cNvPicPr>
          <p:nvPr/>
        </p:nvPicPr>
        <p:blipFill>
          <a:blip r:embed="rId7"/>
          <a:stretch>
            <a:fillRect/>
          </a:stretch>
        </p:blipFill>
        <p:spPr>
          <a:xfrm>
            <a:off x="685434" y="2797698"/>
            <a:ext cx="201900" cy="201900"/>
          </a:xfrm>
          <a:prstGeom prst="rect">
            <a:avLst/>
          </a:prstGeom>
        </p:spPr>
      </p:pic>
      <p:sp>
        <p:nvSpPr>
          <p:cNvPr id="20" name="Control name Encryption"/>
          <p:cNvSpPr txBox="1"/>
          <p:nvPr/>
        </p:nvSpPr>
        <p:spPr>
          <a:xfrm>
            <a:off x="1097280" y="2624328"/>
            <a:ext cx="2103120" cy="548640"/>
          </a:xfrm>
          <a:prstGeom prst="rect">
            <a:avLst/>
          </a:prstGeom>
          <a:noFill/>
          <a:ln/>
        </p:spPr>
        <p:txBody>
          <a:bodyPr wrap="square" lIns="0" tIns="0" rIns="0" bIns="0" rtlCol="0" anchor="ctr"/>
          <a:lstStyle/>
          <a:p>
            <a:pPr marL="0" indent="0">
              <a:buNone/>
            </a:pPr>
            <a:r>
              <a:rPr lang="en-US" sz="1500" b="1" dirty="0">
                <a:solidFill>
                  <a:schemeClr val="tx1"/>
                </a:solidFill>
              </a:rPr>
              <a:t>Encryption</a:t>
            </a:r>
            <a:endParaRPr lang="en-US" sz="1500" dirty="0"/>
          </a:p>
        </p:txBody>
      </p:sp>
      <p:sp>
        <p:nvSpPr>
          <p:cNvPr id="21" name="Control stops Encryption"/>
          <p:cNvSpPr txBox="1"/>
          <p:nvPr/>
        </p:nvSpPr>
        <p:spPr>
          <a:xfrm>
            <a:off x="3291840" y="2624328"/>
            <a:ext cx="2560320" cy="548640"/>
          </a:xfrm>
          <a:prstGeom prst="rect">
            <a:avLst/>
          </a:prstGeom>
          <a:noFill/>
          <a:ln/>
        </p:spPr>
        <p:txBody>
          <a:bodyPr wrap="square" lIns="0" tIns="0" rIns="0" bIns="0" rtlCol="0" anchor="ctr"/>
          <a:lstStyle/>
          <a:p>
            <a:pPr marL="0" indent="0">
              <a:buNone/>
            </a:pPr>
            <a:r>
              <a:rPr lang="en-US" sz="1400" dirty="0">
                <a:solidFill>
                  <a:schemeClr val="tx1"/>
                </a:solidFill>
              </a:rPr>
              <a:t>Reading stolen disks or backups</a:t>
            </a:r>
            <a:endParaRPr lang="en-US" sz="1400" dirty="0"/>
          </a:p>
        </p:txBody>
      </p:sp>
      <p:sp>
        <p:nvSpPr>
          <p:cNvPr id="22" name="Control fails Encryption"/>
          <p:cNvSpPr txBox="1"/>
          <p:nvPr/>
        </p:nvSpPr>
        <p:spPr>
          <a:xfrm>
            <a:off x="5943600" y="2624328"/>
            <a:ext cx="2697480" cy="548640"/>
          </a:xfrm>
          <a:prstGeom prst="rect">
            <a:avLst/>
          </a:prstGeom>
          <a:noFill/>
          <a:ln/>
        </p:spPr>
        <p:txBody>
          <a:bodyPr wrap="square" lIns="0" tIns="0" rIns="0" bIns="0" rtlCol="0" anchor="ctr"/>
          <a:lstStyle/>
          <a:p>
            <a:pPr marL="0" indent="0">
              <a:buNone/>
            </a:pPr>
            <a:r>
              <a:rPr lang="en-US" sz="1400" dirty="0">
                <a:solidFill>
                  <a:schemeClr val="tx1"/>
                </a:solidFill>
              </a:rPr>
              <a:t>The attacker signs in with valid credentials</a:t>
            </a:r>
            <a:endParaRPr lang="en-US" sz="1400" dirty="0"/>
          </a:p>
        </p:txBody>
      </p:sp>
      <p:sp>
        <p:nvSpPr>
          <p:cNvPr id="23" name="Control Config scanning circle"/>
          <p:cNvSpPr/>
          <p:nvPr/>
        </p:nvSpPr>
        <p:spPr>
          <a:xfrm>
            <a:off x="566928" y="3282696"/>
            <a:ext cx="438912" cy="438912"/>
          </a:xfrm>
          <a:prstGeom prst="ellipse">
            <a:avLst/>
          </a:prstGeom>
          <a:solidFill>
            <a:schemeClr val="accent1"/>
          </a:solidFill>
          <a:ln w="12700">
            <a:solidFill>
              <a:schemeClr val="accent1"/>
            </a:solidFill>
            <a:prstDash val="solid"/>
          </a:ln>
        </p:spPr>
        <p:txBody>
          <a:bodyPr/>
          <a:lstStyle/>
          <a:p>
            <a:endParaRPr lang="en-AU"/>
          </a:p>
        </p:txBody>
      </p:sp>
      <p:pic>
        <p:nvPicPr>
          <p:cNvPr id="24" name="Control Config scanning icon" descr="preencoded.png"/>
          <p:cNvPicPr>
            <a:picLocks noChangeAspect="1"/>
          </p:cNvPicPr>
          <p:nvPr/>
        </p:nvPicPr>
        <p:blipFill>
          <a:blip r:embed="rId8"/>
          <a:stretch>
            <a:fillRect/>
          </a:stretch>
        </p:blipFill>
        <p:spPr>
          <a:xfrm>
            <a:off x="685434" y="3401202"/>
            <a:ext cx="201900" cy="201900"/>
          </a:xfrm>
          <a:prstGeom prst="rect">
            <a:avLst/>
          </a:prstGeom>
        </p:spPr>
      </p:pic>
      <p:sp>
        <p:nvSpPr>
          <p:cNvPr id="25" name="Control name Config scanning"/>
          <p:cNvSpPr txBox="1"/>
          <p:nvPr/>
        </p:nvSpPr>
        <p:spPr>
          <a:xfrm>
            <a:off x="1097280" y="3227832"/>
            <a:ext cx="2103120" cy="548640"/>
          </a:xfrm>
          <a:prstGeom prst="rect">
            <a:avLst/>
          </a:prstGeom>
          <a:noFill/>
          <a:ln/>
        </p:spPr>
        <p:txBody>
          <a:bodyPr wrap="square" lIns="0" tIns="0" rIns="0" bIns="0" rtlCol="0" anchor="ctr"/>
          <a:lstStyle/>
          <a:p>
            <a:pPr marL="0" indent="0">
              <a:buNone/>
            </a:pPr>
            <a:r>
              <a:rPr lang="en-US" sz="1500" b="1" dirty="0">
                <a:solidFill>
                  <a:schemeClr val="tx1"/>
                </a:solidFill>
              </a:rPr>
              <a:t>Config scanning</a:t>
            </a:r>
            <a:endParaRPr lang="en-US" sz="1500" dirty="0"/>
          </a:p>
        </p:txBody>
      </p:sp>
      <p:sp>
        <p:nvSpPr>
          <p:cNvPr id="26" name="Control stops Config scanning"/>
          <p:cNvSpPr txBox="1"/>
          <p:nvPr/>
        </p:nvSpPr>
        <p:spPr>
          <a:xfrm>
            <a:off x="3291840" y="3227832"/>
            <a:ext cx="2560320" cy="548640"/>
          </a:xfrm>
          <a:prstGeom prst="rect">
            <a:avLst/>
          </a:prstGeom>
          <a:noFill/>
          <a:ln/>
        </p:spPr>
        <p:txBody>
          <a:bodyPr wrap="square" lIns="0" tIns="0" rIns="0" bIns="0" rtlCol="0" anchor="ctr"/>
          <a:lstStyle/>
          <a:p>
            <a:pPr marL="0" indent="0">
              <a:buNone/>
            </a:pPr>
            <a:r>
              <a:rPr lang="en-US" sz="1400" dirty="0">
                <a:solidFill>
                  <a:schemeClr val="tx1"/>
                </a:solidFill>
              </a:rPr>
              <a:t>Public endpoints, weak settings</a:t>
            </a:r>
            <a:endParaRPr lang="en-US" sz="1400" dirty="0"/>
          </a:p>
        </p:txBody>
      </p:sp>
      <p:sp>
        <p:nvSpPr>
          <p:cNvPr id="27" name="Control fails Config scanning"/>
          <p:cNvSpPr txBox="1"/>
          <p:nvPr/>
        </p:nvSpPr>
        <p:spPr>
          <a:xfrm>
            <a:off x="5943600" y="3227832"/>
            <a:ext cx="2697480" cy="548640"/>
          </a:xfrm>
          <a:prstGeom prst="rect">
            <a:avLst/>
          </a:prstGeom>
          <a:noFill/>
          <a:ln/>
        </p:spPr>
        <p:txBody>
          <a:bodyPr wrap="square" lIns="0" tIns="0" rIns="0" bIns="0" rtlCol="0" anchor="ctr"/>
          <a:lstStyle/>
          <a:p>
            <a:pPr marL="0" indent="0">
              <a:buNone/>
            </a:pPr>
            <a:r>
              <a:rPr lang="en-US" sz="1400" dirty="0">
                <a:solidFill>
                  <a:schemeClr val="tx1"/>
                </a:solidFill>
              </a:rPr>
              <a:t>Drift happens between scans</a:t>
            </a:r>
            <a:endParaRPr lang="en-US" sz="1400" dirty="0"/>
          </a:p>
        </p:txBody>
      </p:sp>
      <p:sp>
        <p:nvSpPr>
          <p:cNvPr id="28" name="Row tint Logging"/>
          <p:cNvSpPr/>
          <p:nvPr/>
        </p:nvSpPr>
        <p:spPr>
          <a:xfrm>
            <a:off x="457200" y="3831336"/>
            <a:ext cx="8229600" cy="548640"/>
          </a:xfrm>
          <a:prstGeom prst="roundRect">
            <a:avLst>
              <a:gd name="adj" fmla="val 13333"/>
            </a:avLst>
          </a:prstGeom>
          <a:solidFill>
            <a:schemeClr val="bg2"/>
          </a:solidFill>
          <a:ln w="12700">
            <a:solidFill>
              <a:schemeClr val="bg2"/>
            </a:solidFill>
            <a:prstDash val="solid"/>
          </a:ln>
        </p:spPr>
        <p:txBody>
          <a:bodyPr/>
          <a:lstStyle/>
          <a:p>
            <a:endParaRPr lang="en-AU"/>
          </a:p>
        </p:txBody>
      </p:sp>
      <p:sp>
        <p:nvSpPr>
          <p:cNvPr id="29" name="Control Logging circle"/>
          <p:cNvSpPr/>
          <p:nvPr/>
        </p:nvSpPr>
        <p:spPr>
          <a:xfrm>
            <a:off x="566928" y="3886200"/>
            <a:ext cx="438912" cy="438912"/>
          </a:xfrm>
          <a:prstGeom prst="ellipse">
            <a:avLst/>
          </a:prstGeom>
          <a:solidFill>
            <a:schemeClr val="accent1"/>
          </a:solidFill>
          <a:ln w="12700">
            <a:solidFill>
              <a:schemeClr val="accent1"/>
            </a:solidFill>
            <a:prstDash val="solid"/>
          </a:ln>
        </p:spPr>
        <p:txBody>
          <a:bodyPr/>
          <a:lstStyle/>
          <a:p>
            <a:endParaRPr lang="en-AU"/>
          </a:p>
        </p:txBody>
      </p:sp>
      <p:pic>
        <p:nvPicPr>
          <p:cNvPr id="30" name="Control Logging icon" descr="preencoded.png"/>
          <p:cNvPicPr>
            <a:picLocks noChangeAspect="1"/>
          </p:cNvPicPr>
          <p:nvPr/>
        </p:nvPicPr>
        <p:blipFill>
          <a:blip r:embed="rId9"/>
          <a:stretch>
            <a:fillRect/>
          </a:stretch>
        </p:blipFill>
        <p:spPr>
          <a:xfrm>
            <a:off x="685434" y="4004706"/>
            <a:ext cx="201900" cy="201900"/>
          </a:xfrm>
          <a:prstGeom prst="rect">
            <a:avLst/>
          </a:prstGeom>
        </p:spPr>
      </p:pic>
      <p:sp>
        <p:nvSpPr>
          <p:cNvPr id="31" name="Control name Logging"/>
          <p:cNvSpPr txBox="1"/>
          <p:nvPr/>
        </p:nvSpPr>
        <p:spPr>
          <a:xfrm>
            <a:off x="1097280" y="3831336"/>
            <a:ext cx="2103120" cy="548640"/>
          </a:xfrm>
          <a:prstGeom prst="rect">
            <a:avLst/>
          </a:prstGeom>
          <a:noFill/>
          <a:ln/>
        </p:spPr>
        <p:txBody>
          <a:bodyPr wrap="square" lIns="0" tIns="0" rIns="0" bIns="0" rtlCol="0" anchor="ctr"/>
          <a:lstStyle/>
          <a:p>
            <a:pPr marL="0" indent="0">
              <a:buNone/>
            </a:pPr>
            <a:r>
              <a:rPr lang="en-US" sz="1500" b="1" dirty="0">
                <a:solidFill>
                  <a:schemeClr val="tx1"/>
                </a:solidFill>
              </a:rPr>
              <a:t>Logging</a:t>
            </a:r>
            <a:endParaRPr lang="en-US" sz="1500" dirty="0"/>
          </a:p>
        </p:txBody>
      </p:sp>
      <p:sp>
        <p:nvSpPr>
          <p:cNvPr id="32" name="Control stops Logging"/>
          <p:cNvSpPr txBox="1"/>
          <p:nvPr/>
        </p:nvSpPr>
        <p:spPr>
          <a:xfrm>
            <a:off x="3291840" y="3831336"/>
            <a:ext cx="2560320" cy="548640"/>
          </a:xfrm>
          <a:prstGeom prst="rect">
            <a:avLst/>
          </a:prstGeom>
          <a:noFill/>
          <a:ln/>
        </p:spPr>
        <p:txBody>
          <a:bodyPr wrap="square" lIns="0" tIns="0" rIns="0" bIns="0" rtlCol="0" anchor="ctr"/>
          <a:lstStyle/>
          <a:p>
            <a:pPr marL="0" indent="0">
              <a:buNone/>
            </a:pPr>
            <a:r>
              <a:rPr lang="en-US" sz="1400" dirty="0">
                <a:solidFill>
                  <a:schemeClr val="tx1"/>
                </a:solidFill>
              </a:rPr>
              <a:t>Silent failures of everything else</a:t>
            </a:r>
            <a:endParaRPr lang="en-US" sz="1400" dirty="0"/>
          </a:p>
        </p:txBody>
      </p:sp>
      <p:sp>
        <p:nvSpPr>
          <p:cNvPr id="33" name="Control fails Logging"/>
          <p:cNvSpPr txBox="1"/>
          <p:nvPr/>
        </p:nvSpPr>
        <p:spPr>
          <a:xfrm>
            <a:off x="5943600" y="3831336"/>
            <a:ext cx="2697480" cy="548640"/>
          </a:xfrm>
          <a:prstGeom prst="rect">
            <a:avLst/>
          </a:prstGeom>
          <a:noFill/>
          <a:ln/>
        </p:spPr>
        <p:txBody>
          <a:bodyPr wrap="square" lIns="0" tIns="0" rIns="0" bIns="0" rtlCol="0" anchor="ctr"/>
          <a:lstStyle/>
          <a:p>
            <a:pPr marL="0" indent="0">
              <a:buNone/>
            </a:pPr>
            <a:r>
              <a:rPr lang="en-US" sz="1400" dirty="0">
                <a:solidFill>
                  <a:schemeClr val="tx1"/>
                </a:solidFill>
              </a:rPr>
              <a:t>Logs are on, but nobody reads them</a:t>
            </a:r>
            <a:endParaRPr lang="en-US" sz="1400" dirty="0"/>
          </a:p>
        </p:txBody>
      </p:sp>
      <p:sp>
        <p:nvSpPr>
          <p:cNvPr id="34"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pic>
        <p:nvPicPr>
          <p:cNvPr id="37" name="Audio 36">
            <a:hlinkClick r:id="" action="ppaction://media"/>
            <a:extLst>
              <a:ext uri="{FF2B5EF4-FFF2-40B4-BE49-F238E27FC236}">
                <a16:creationId xmlns:a16="http://schemas.microsoft.com/office/drawing/2014/main" id="{9287725C-19A6-B246-96C6-1CC1411B817A}"/>
              </a:ext>
            </a:extLst>
          </p:cNvPr>
          <p:cNvPicPr>
            <a:picLocks noChangeAspect="1"/>
          </p:cNvPicPr>
          <p:nvPr>
            <a:audioFile r:link="rId2"/>
            <p:extLst>
              <p:ext uri="{DAA4B4D4-6D71-4841-9C94-3DE7FCFB9230}">
                <p14:media xmlns:p14="http://schemas.microsoft.com/office/powerpoint/2010/main" r:embed="rId1"/>
              </p:ext>
            </p:extLst>
          </p:nvPr>
        </p:nvPicPr>
        <p:blipFill>
          <a:blip r:embed="rId10"/>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03618"/>
    </mc:Choice>
    <mc:Fallback>
      <p:transition spd="slow" advTm="1036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1"/>
                </a:solidFill>
              </a:rPr>
              <a:t>Catching an attack chain in SQL</a:t>
            </a:r>
            <a:endParaRPr lang="en-US" sz="3200" dirty="0"/>
          </a:p>
        </p:txBody>
      </p:sp>
      <p:sp>
        <p:nvSpPr>
          <p:cNvPr id="3" name="Stat card expected alerts fired"/>
          <p:cNvSpPr/>
          <p:nvPr/>
        </p:nvSpPr>
        <p:spPr>
          <a:xfrm>
            <a:off x="457200" y="1097280"/>
            <a:ext cx="2560320" cy="1051560"/>
          </a:xfrm>
          <a:prstGeom prst="roundRect">
            <a:avLst>
              <a:gd name="adj" fmla="val 10435"/>
            </a:avLst>
          </a:prstGeom>
          <a:solidFill>
            <a:schemeClr val="accent1"/>
          </a:solidFill>
          <a:ln w="12700">
            <a:solidFill>
              <a:schemeClr val="accent1"/>
            </a:solidFill>
            <a:prstDash val="solid"/>
          </a:ln>
        </p:spPr>
        <p:txBody>
          <a:bodyPr/>
          <a:lstStyle/>
          <a:p>
            <a:endParaRPr lang="en-AU"/>
          </a:p>
        </p:txBody>
      </p:sp>
      <p:sp>
        <p:nvSpPr>
          <p:cNvPr id="4" name="Stat value expected alerts fired"/>
          <p:cNvSpPr txBox="1"/>
          <p:nvPr/>
        </p:nvSpPr>
        <p:spPr>
          <a:xfrm>
            <a:off x="685800" y="1143000"/>
            <a:ext cx="2103120" cy="640080"/>
          </a:xfrm>
          <a:prstGeom prst="rect">
            <a:avLst/>
          </a:prstGeom>
          <a:noFill/>
          <a:ln/>
        </p:spPr>
        <p:txBody>
          <a:bodyPr wrap="square" lIns="0" tIns="0" rIns="0" bIns="0" rtlCol="0" anchor="ctr"/>
          <a:lstStyle/>
          <a:p>
            <a:pPr marL="0" indent="0">
              <a:buNone/>
            </a:pPr>
            <a:r>
              <a:rPr lang="en-US" sz="4000" b="1" dirty="0">
                <a:solidFill>
                  <a:schemeClr val="bg1"/>
                </a:solidFill>
              </a:rPr>
              <a:t>9 / 9</a:t>
            </a:r>
            <a:endParaRPr lang="en-US" sz="4000" dirty="0"/>
          </a:p>
        </p:txBody>
      </p:sp>
      <p:sp>
        <p:nvSpPr>
          <p:cNvPr id="5" name="Stat label expected alerts fired"/>
          <p:cNvSpPr txBox="1"/>
          <p:nvPr/>
        </p:nvSpPr>
        <p:spPr>
          <a:xfrm>
            <a:off x="685800" y="1755648"/>
            <a:ext cx="2103120" cy="274320"/>
          </a:xfrm>
          <a:prstGeom prst="rect">
            <a:avLst/>
          </a:prstGeom>
          <a:noFill/>
          <a:ln/>
        </p:spPr>
        <p:txBody>
          <a:bodyPr wrap="square" lIns="0" tIns="0" rIns="0" bIns="0" rtlCol="0" anchor="ctr"/>
          <a:lstStyle/>
          <a:p>
            <a:pPr marL="0" indent="0">
              <a:buNone/>
            </a:pPr>
            <a:r>
              <a:rPr lang="en-US" sz="1200" dirty="0">
                <a:solidFill>
                  <a:schemeClr val="bg1"/>
                </a:solidFill>
              </a:rPr>
              <a:t>expected alerts fired</a:t>
            </a:r>
            <a:endParaRPr lang="en-US" sz="1200" dirty="0"/>
          </a:p>
        </p:txBody>
      </p:sp>
      <p:sp>
        <p:nvSpPr>
          <p:cNvPr id="6" name="Stat card false positives"/>
          <p:cNvSpPr/>
          <p:nvPr/>
        </p:nvSpPr>
        <p:spPr>
          <a:xfrm>
            <a:off x="3291840" y="1097280"/>
            <a:ext cx="2560320" cy="1051560"/>
          </a:xfrm>
          <a:prstGeom prst="roundRect">
            <a:avLst>
              <a:gd name="adj" fmla="val 10435"/>
            </a:avLst>
          </a:prstGeom>
          <a:solidFill>
            <a:schemeClr val="bg2"/>
          </a:solidFill>
          <a:ln w="12700">
            <a:solidFill>
              <a:schemeClr val="bg2"/>
            </a:solidFill>
            <a:prstDash val="solid"/>
          </a:ln>
        </p:spPr>
        <p:txBody>
          <a:bodyPr/>
          <a:lstStyle/>
          <a:p>
            <a:endParaRPr lang="en-AU"/>
          </a:p>
        </p:txBody>
      </p:sp>
      <p:sp>
        <p:nvSpPr>
          <p:cNvPr id="7" name="Stat value false positives"/>
          <p:cNvSpPr txBox="1"/>
          <p:nvPr/>
        </p:nvSpPr>
        <p:spPr>
          <a:xfrm>
            <a:off x="3520440" y="1143000"/>
            <a:ext cx="2103120" cy="640080"/>
          </a:xfrm>
          <a:prstGeom prst="rect">
            <a:avLst/>
          </a:prstGeom>
          <a:noFill/>
          <a:ln/>
        </p:spPr>
        <p:txBody>
          <a:bodyPr wrap="square" lIns="0" tIns="0" rIns="0" bIns="0" rtlCol="0" anchor="ctr"/>
          <a:lstStyle/>
          <a:p>
            <a:pPr marL="0" indent="0">
              <a:buNone/>
            </a:pPr>
            <a:r>
              <a:rPr lang="en-US" sz="4000" b="1" dirty="0">
                <a:solidFill>
                  <a:schemeClr val="accent1"/>
                </a:solidFill>
              </a:rPr>
              <a:t>0</a:t>
            </a:r>
            <a:endParaRPr lang="en-US" sz="4000" dirty="0"/>
          </a:p>
        </p:txBody>
      </p:sp>
      <p:sp>
        <p:nvSpPr>
          <p:cNvPr id="8" name="Stat label false positives"/>
          <p:cNvSpPr txBox="1"/>
          <p:nvPr/>
        </p:nvSpPr>
        <p:spPr>
          <a:xfrm>
            <a:off x="3520440" y="1755648"/>
            <a:ext cx="2103120" cy="274320"/>
          </a:xfrm>
          <a:prstGeom prst="rect">
            <a:avLst/>
          </a:prstGeom>
          <a:noFill/>
          <a:ln/>
        </p:spPr>
        <p:txBody>
          <a:bodyPr wrap="square" lIns="0" tIns="0" rIns="0" bIns="0" rtlCol="0" anchor="ctr"/>
          <a:lstStyle/>
          <a:p>
            <a:pPr marL="0" indent="0">
              <a:buNone/>
            </a:pPr>
            <a:r>
              <a:rPr lang="en-US" sz="1200" dirty="0">
                <a:solidFill>
                  <a:schemeClr val="tx1"/>
                </a:solidFill>
              </a:rPr>
              <a:t>false positives</a:t>
            </a:r>
            <a:endParaRPr lang="en-US" sz="1200" dirty="0"/>
          </a:p>
        </p:txBody>
      </p:sp>
      <p:sp>
        <p:nvSpPr>
          <p:cNvPr id="9" name="Stat card automated tests passing"/>
          <p:cNvSpPr/>
          <p:nvPr/>
        </p:nvSpPr>
        <p:spPr>
          <a:xfrm>
            <a:off x="6126480" y="1097280"/>
            <a:ext cx="2560320" cy="1051560"/>
          </a:xfrm>
          <a:prstGeom prst="roundRect">
            <a:avLst>
              <a:gd name="adj" fmla="val 10435"/>
            </a:avLst>
          </a:prstGeom>
          <a:solidFill>
            <a:schemeClr val="bg2"/>
          </a:solidFill>
          <a:ln w="12700">
            <a:solidFill>
              <a:schemeClr val="bg2"/>
            </a:solidFill>
            <a:prstDash val="solid"/>
          </a:ln>
        </p:spPr>
        <p:txBody>
          <a:bodyPr/>
          <a:lstStyle/>
          <a:p>
            <a:endParaRPr lang="en-AU"/>
          </a:p>
        </p:txBody>
      </p:sp>
      <p:sp>
        <p:nvSpPr>
          <p:cNvPr id="10" name="Stat value automated tests passing"/>
          <p:cNvSpPr txBox="1"/>
          <p:nvPr/>
        </p:nvSpPr>
        <p:spPr>
          <a:xfrm>
            <a:off x="6355080" y="1143000"/>
            <a:ext cx="2103120" cy="640080"/>
          </a:xfrm>
          <a:prstGeom prst="rect">
            <a:avLst/>
          </a:prstGeom>
          <a:noFill/>
          <a:ln/>
        </p:spPr>
        <p:txBody>
          <a:bodyPr wrap="square" lIns="0" tIns="0" rIns="0" bIns="0" rtlCol="0" anchor="ctr"/>
          <a:lstStyle/>
          <a:p>
            <a:pPr marL="0" indent="0">
              <a:buNone/>
            </a:pPr>
            <a:r>
              <a:rPr lang="en-US" sz="4000" b="1" dirty="0">
                <a:solidFill>
                  <a:schemeClr val="accent1"/>
                </a:solidFill>
              </a:rPr>
              <a:t>12</a:t>
            </a:r>
            <a:endParaRPr lang="en-US" sz="4000" dirty="0"/>
          </a:p>
        </p:txBody>
      </p:sp>
      <p:sp>
        <p:nvSpPr>
          <p:cNvPr id="11" name="Stat label automated tests passing"/>
          <p:cNvSpPr txBox="1"/>
          <p:nvPr/>
        </p:nvSpPr>
        <p:spPr>
          <a:xfrm>
            <a:off x="6355080" y="1755648"/>
            <a:ext cx="2103120" cy="274320"/>
          </a:xfrm>
          <a:prstGeom prst="rect">
            <a:avLst/>
          </a:prstGeom>
          <a:noFill/>
          <a:ln/>
        </p:spPr>
        <p:txBody>
          <a:bodyPr wrap="square" lIns="0" tIns="0" rIns="0" bIns="0" rtlCol="0" anchor="ctr"/>
          <a:lstStyle/>
          <a:p>
            <a:pPr marL="0" indent="0">
              <a:buNone/>
            </a:pPr>
            <a:r>
              <a:rPr lang="en-US" sz="1200" dirty="0">
                <a:solidFill>
                  <a:schemeClr val="tx1"/>
                </a:solidFill>
              </a:rPr>
              <a:t>automated tests passing</a:t>
            </a:r>
            <a:endParaRPr lang="en-US" sz="1200" dirty="0"/>
          </a:p>
        </p:txBody>
      </p:sp>
      <p:sp>
        <p:nvSpPr>
          <p:cNvPr id="12" name="Timeline line"/>
          <p:cNvSpPr/>
          <p:nvPr/>
        </p:nvSpPr>
        <p:spPr>
          <a:xfrm>
            <a:off x="777240" y="2852928"/>
            <a:ext cx="7589520" cy="0"/>
          </a:xfrm>
          <a:prstGeom prst="line">
            <a:avLst/>
          </a:prstGeom>
          <a:noFill/>
          <a:ln w="25400">
            <a:solidFill>
              <a:schemeClr val="accent4"/>
            </a:solidFill>
            <a:prstDash val="solid"/>
          </a:ln>
        </p:spPr>
        <p:txBody>
          <a:bodyPr/>
          <a:lstStyle/>
          <a:p>
            <a:endParaRPr lang="en-AU"/>
          </a:p>
        </p:txBody>
      </p:sp>
      <p:sp>
        <p:nvSpPr>
          <p:cNvPr id="13" name="Timeline dot 02:10"/>
          <p:cNvSpPr/>
          <p:nvPr/>
        </p:nvSpPr>
        <p:spPr>
          <a:xfrm>
            <a:off x="685800" y="2697480"/>
            <a:ext cx="310896" cy="310896"/>
          </a:xfrm>
          <a:prstGeom prst="ellipse">
            <a:avLst/>
          </a:prstGeom>
          <a:solidFill>
            <a:schemeClr val="accent4"/>
          </a:solidFill>
          <a:ln w="38100">
            <a:solidFill>
              <a:schemeClr val="bg1"/>
            </a:solidFill>
            <a:prstDash val="solid"/>
          </a:ln>
        </p:spPr>
        <p:txBody>
          <a:bodyPr/>
          <a:lstStyle/>
          <a:p>
            <a:endParaRPr lang="en-AU"/>
          </a:p>
        </p:txBody>
      </p:sp>
      <p:sp>
        <p:nvSpPr>
          <p:cNvPr id="14" name="Timeline time 02:10"/>
          <p:cNvSpPr txBox="1"/>
          <p:nvPr/>
        </p:nvSpPr>
        <p:spPr>
          <a:xfrm>
            <a:off x="685800" y="3108960"/>
            <a:ext cx="1691640" cy="292608"/>
          </a:xfrm>
          <a:prstGeom prst="rect">
            <a:avLst/>
          </a:prstGeom>
          <a:noFill/>
          <a:ln/>
        </p:spPr>
        <p:txBody>
          <a:bodyPr wrap="square" lIns="0" tIns="0" rIns="0" bIns="0" rtlCol="0" anchor="ctr"/>
          <a:lstStyle/>
          <a:p>
            <a:pPr marL="0" indent="0">
              <a:buNone/>
            </a:pPr>
            <a:r>
              <a:rPr lang="en-US" sz="1800" b="1" dirty="0">
                <a:solidFill>
                  <a:schemeClr val="tx1"/>
                </a:solidFill>
              </a:rPr>
              <a:t>02:10</a:t>
            </a:r>
            <a:endParaRPr lang="en-US" sz="1800" dirty="0"/>
          </a:p>
        </p:txBody>
      </p:sp>
      <p:sp>
        <p:nvSpPr>
          <p:cNvPr id="15" name="Timeline event 02:10"/>
          <p:cNvSpPr txBox="1"/>
          <p:nvPr/>
        </p:nvSpPr>
        <p:spPr>
          <a:xfrm>
            <a:off x="685800" y="3401568"/>
            <a:ext cx="1691640" cy="457200"/>
          </a:xfrm>
          <a:prstGeom prst="rect">
            <a:avLst/>
          </a:prstGeom>
          <a:noFill/>
          <a:ln/>
        </p:spPr>
        <p:txBody>
          <a:bodyPr wrap="square" lIns="0" tIns="0" rIns="0" bIns="0" rtlCol="0" anchor="t"/>
          <a:lstStyle/>
          <a:p>
            <a:pPr marL="0" indent="0">
              <a:buNone/>
            </a:pPr>
            <a:r>
              <a:rPr lang="en-US" sz="1400" dirty="0">
                <a:solidFill>
                  <a:schemeClr val="tx1"/>
                </a:solidFill>
              </a:rPr>
              <a:t>8 failed sign-ins from one IP</a:t>
            </a:r>
            <a:endParaRPr lang="en-US" sz="1400" dirty="0"/>
          </a:p>
        </p:txBody>
      </p:sp>
      <p:sp>
        <p:nvSpPr>
          <p:cNvPr id="16" name="Timeline dot 02:14"/>
          <p:cNvSpPr/>
          <p:nvPr/>
        </p:nvSpPr>
        <p:spPr>
          <a:xfrm>
            <a:off x="2788920" y="2697480"/>
            <a:ext cx="310896" cy="310896"/>
          </a:xfrm>
          <a:prstGeom prst="ellipse">
            <a:avLst/>
          </a:prstGeom>
          <a:solidFill>
            <a:schemeClr val="accent3"/>
          </a:solidFill>
          <a:ln w="38100">
            <a:solidFill>
              <a:schemeClr val="bg1"/>
            </a:solidFill>
            <a:prstDash val="solid"/>
          </a:ln>
        </p:spPr>
        <p:txBody>
          <a:bodyPr/>
          <a:lstStyle/>
          <a:p>
            <a:endParaRPr lang="en-AU"/>
          </a:p>
        </p:txBody>
      </p:sp>
      <p:sp>
        <p:nvSpPr>
          <p:cNvPr id="17" name="Timeline time 02:14"/>
          <p:cNvSpPr txBox="1"/>
          <p:nvPr/>
        </p:nvSpPr>
        <p:spPr>
          <a:xfrm>
            <a:off x="2788920" y="3108960"/>
            <a:ext cx="1691640" cy="292608"/>
          </a:xfrm>
          <a:prstGeom prst="rect">
            <a:avLst/>
          </a:prstGeom>
          <a:noFill/>
          <a:ln/>
        </p:spPr>
        <p:txBody>
          <a:bodyPr wrap="square" lIns="0" tIns="0" rIns="0" bIns="0" rtlCol="0" anchor="ctr"/>
          <a:lstStyle/>
          <a:p>
            <a:pPr marL="0" indent="0">
              <a:buNone/>
            </a:pPr>
            <a:r>
              <a:rPr lang="en-US" sz="1800" b="1" dirty="0">
                <a:solidFill>
                  <a:schemeClr val="tx1"/>
                </a:solidFill>
              </a:rPr>
              <a:t>02:14</a:t>
            </a:r>
            <a:endParaRPr lang="en-US" sz="1800" dirty="0"/>
          </a:p>
        </p:txBody>
      </p:sp>
      <p:sp>
        <p:nvSpPr>
          <p:cNvPr id="18" name="Timeline event 02:14"/>
          <p:cNvSpPr txBox="1"/>
          <p:nvPr/>
        </p:nvSpPr>
        <p:spPr>
          <a:xfrm>
            <a:off x="2788920" y="3401568"/>
            <a:ext cx="1691640" cy="457200"/>
          </a:xfrm>
          <a:prstGeom prst="rect">
            <a:avLst/>
          </a:prstGeom>
          <a:noFill/>
          <a:ln/>
        </p:spPr>
        <p:txBody>
          <a:bodyPr wrap="square" lIns="0" tIns="0" rIns="0" bIns="0" rtlCol="0" anchor="t"/>
          <a:lstStyle/>
          <a:p>
            <a:pPr marL="0" indent="0">
              <a:buNone/>
            </a:pPr>
            <a:r>
              <a:rPr lang="en-US" sz="1400" dirty="0">
                <a:solidFill>
                  <a:schemeClr val="tx1"/>
                </a:solidFill>
              </a:rPr>
              <a:t>Attacker signs in</a:t>
            </a:r>
            <a:endParaRPr lang="en-US" sz="1400" dirty="0"/>
          </a:p>
        </p:txBody>
      </p:sp>
      <p:sp>
        <p:nvSpPr>
          <p:cNvPr id="19" name="HIGH pill Brute force"/>
          <p:cNvSpPr/>
          <p:nvPr/>
        </p:nvSpPr>
        <p:spPr>
          <a:xfrm>
            <a:off x="2788920" y="3913632"/>
            <a:ext cx="1600200" cy="256032"/>
          </a:xfrm>
          <a:prstGeom prst="roundRect">
            <a:avLst>
              <a:gd name="adj" fmla="val 50000"/>
            </a:avLst>
          </a:prstGeom>
          <a:solidFill>
            <a:schemeClr val="accent2"/>
          </a:solidFill>
          <a:ln w="12700">
            <a:solidFill>
              <a:schemeClr val="accent2"/>
            </a:solidFill>
            <a:prstDash val="solid"/>
          </a:ln>
        </p:spPr>
        <p:txBody>
          <a:bodyPr/>
          <a:lstStyle/>
          <a:p>
            <a:endParaRPr lang="en-AU"/>
          </a:p>
        </p:txBody>
      </p:sp>
      <p:sp>
        <p:nvSpPr>
          <p:cNvPr id="20" name="HIGH pill text Brute force"/>
          <p:cNvSpPr txBox="1"/>
          <p:nvPr/>
        </p:nvSpPr>
        <p:spPr>
          <a:xfrm>
            <a:off x="2788920" y="3913632"/>
            <a:ext cx="1600200" cy="256032"/>
          </a:xfrm>
          <a:prstGeom prst="rect">
            <a:avLst/>
          </a:prstGeom>
          <a:noFill/>
          <a:ln/>
        </p:spPr>
        <p:txBody>
          <a:bodyPr wrap="square" lIns="0" tIns="0" rIns="0" bIns="0" rtlCol="0" anchor="ctr"/>
          <a:lstStyle/>
          <a:p>
            <a:pPr marL="0" indent="0" algn="ctr">
              <a:buNone/>
            </a:pPr>
            <a:r>
              <a:rPr lang="en-US" sz="1000" b="1" dirty="0">
                <a:solidFill>
                  <a:schemeClr val="tx1"/>
                </a:solidFill>
              </a:rPr>
              <a:t>HIGH  </a:t>
            </a:r>
            <a:r>
              <a:rPr lang="en-US" sz="1000" dirty="0">
                <a:solidFill>
                  <a:schemeClr val="tx1"/>
                </a:solidFill>
              </a:rPr>
              <a:t>Brute force</a:t>
            </a:r>
            <a:endParaRPr lang="en-US" sz="1000" dirty="0"/>
          </a:p>
        </p:txBody>
      </p:sp>
      <p:sp>
        <p:nvSpPr>
          <p:cNvPr id="21" name="MEDIUM pill New country"/>
          <p:cNvSpPr/>
          <p:nvPr/>
        </p:nvSpPr>
        <p:spPr>
          <a:xfrm>
            <a:off x="2788920" y="4224528"/>
            <a:ext cx="1600200" cy="256032"/>
          </a:xfrm>
          <a:prstGeom prst="roundRect">
            <a:avLst>
              <a:gd name="adj" fmla="val 50000"/>
            </a:avLst>
          </a:prstGeom>
          <a:solidFill>
            <a:schemeClr val="accent4"/>
          </a:solidFill>
          <a:ln w="12700">
            <a:solidFill>
              <a:schemeClr val="accent4"/>
            </a:solidFill>
            <a:prstDash val="solid"/>
          </a:ln>
        </p:spPr>
        <p:txBody>
          <a:bodyPr/>
          <a:lstStyle/>
          <a:p>
            <a:endParaRPr lang="en-AU"/>
          </a:p>
        </p:txBody>
      </p:sp>
      <p:sp>
        <p:nvSpPr>
          <p:cNvPr id="22" name="MEDIUM pill text New country"/>
          <p:cNvSpPr txBox="1"/>
          <p:nvPr/>
        </p:nvSpPr>
        <p:spPr>
          <a:xfrm>
            <a:off x="2788920" y="4224528"/>
            <a:ext cx="1600200" cy="256032"/>
          </a:xfrm>
          <a:prstGeom prst="rect">
            <a:avLst/>
          </a:prstGeom>
          <a:noFill/>
          <a:ln/>
        </p:spPr>
        <p:txBody>
          <a:bodyPr wrap="square" lIns="0" tIns="0" rIns="0" bIns="0" rtlCol="0" anchor="ctr"/>
          <a:lstStyle/>
          <a:p>
            <a:pPr marL="0" indent="0" algn="ctr">
              <a:buNone/>
            </a:pPr>
            <a:r>
              <a:rPr lang="en-US" sz="1000" b="1" dirty="0">
                <a:solidFill>
                  <a:schemeClr val="bg1"/>
                </a:solidFill>
              </a:rPr>
              <a:t>MEDIUM  </a:t>
            </a:r>
            <a:r>
              <a:rPr lang="en-US" sz="1000" dirty="0">
                <a:solidFill>
                  <a:schemeClr val="bg1"/>
                </a:solidFill>
              </a:rPr>
              <a:t>New country</a:t>
            </a:r>
            <a:endParaRPr lang="en-US" sz="1000" dirty="0"/>
          </a:p>
        </p:txBody>
      </p:sp>
      <p:sp>
        <p:nvSpPr>
          <p:cNvPr id="23" name="Timeline dot 02:31"/>
          <p:cNvSpPr/>
          <p:nvPr/>
        </p:nvSpPr>
        <p:spPr>
          <a:xfrm>
            <a:off x="4892040" y="2697480"/>
            <a:ext cx="310896" cy="310896"/>
          </a:xfrm>
          <a:prstGeom prst="ellipse">
            <a:avLst/>
          </a:prstGeom>
          <a:solidFill>
            <a:schemeClr val="accent3"/>
          </a:solidFill>
          <a:ln w="38100">
            <a:solidFill>
              <a:schemeClr val="bg1"/>
            </a:solidFill>
            <a:prstDash val="solid"/>
          </a:ln>
        </p:spPr>
        <p:txBody>
          <a:bodyPr/>
          <a:lstStyle/>
          <a:p>
            <a:endParaRPr lang="en-AU"/>
          </a:p>
        </p:txBody>
      </p:sp>
      <p:sp>
        <p:nvSpPr>
          <p:cNvPr id="24" name="Timeline time 02:31"/>
          <p:cNvSpPr txBox="1"/>
          <p:nvPr/>
        </p:nvSpPr>
        <p:spPr>
          <a:xfrm>
            <a:off x="4892040" y="3108960"/>
            <a:ext cx="1691640" cy="292608"/>
          </a:xfrm>
          <a:prstGeom prst="rect">
            <a:avLst/>
          </a:prstGeom>
          <a:noFill/>
          <a:ln/>
        </p:spPr>
        <p:txBody>
          <a:bodyPr wrap="square" lIns="0" tIns="0" rIns="0" bIns="0" rtlCol="0" anchor="ctr"/>
          <a:lstStyle/>
          <a:p>
            <a:pPr marL="0" indent="0">
              <a:buNone/>
            </a:pPr>
            <a:r>
              <a:rPr lang="en-US" sz="1800" b="1" dirty="0">
                <a:solidFill>
                  <a:schemeClr val="tx1"/>
                </a:solidFill>
              </a:rPr>
              <a:t>02:31</a:t>
            </a:r>
            <a:endParaRPr lang="en-US" sz="1800" dirty="0"/>
          </a:p>
        </p:txBody>
      </p:sp>
      <p:sp>
        <p:nvSpPr>
          <p:cNvPr id="25" name="Timeline event 02:31"/>
          <p:cNvSpPr txBox="1"/>
          <p:nvPr/>
        </p:nvSpPr>
        <p:spPr>
          <a:xfrm>
            <a:off x="4892040" y="3401568"/>
            <a:ext cx="1691640" cy="457200"/>
          </a:xfrm>
          <a:prstGeom prst="rect">
            <a:avLst/>
          </a:prstGeom>
          <a:noFill/>
          <a:ln/>
        </p:spPr>
        <p:txBody>
          <a:bodyPr wrap="square" lIns="0" tIns="0" rIns="0" bIns="0" rtlCol="0" anchor="t"/>
          <a:lstStyle/>
          <a:p>
            <a:pPr marL="0" indent="0">
              <a:buNone/>
            </a:pPr>
            <a:r>
              <a:rPr lang="en-US" sz="1400" dirty="0">
                <a:solidFill>
                  <a:schemeClr val="tx1"/>
                </a:solidFill>
              </a:rPr>
              <a:t>Grants itself DBAdmin</a:t>
            </a:r>
            <a:endParaRPr lang="en-US" sz="1400" dirty="0"/>
          </a:p>
        </p:txBody>
      </p:sp>
      <p:sp>
        <p:nvSpPr>
          <p:cNvPr id="26" name="CRITICAL pill Privilege grab"/>
          <p:cNvSpPr/>
          <p:nvPr/>
        </p:nvSpPr>
        <p:spPr>
          <a:xfrm>
            <a:off x="4892040" y="3913632"/>
            <a:ext cx="1600200" cy="256032"/>
          </a:xfrm>
          <a:prstGeom prst="roundRect">
            <a:avLst>
              <a:gd name="adj" fmla="val 50000"/>
            </a:avLst>
          </a:prstGeom>
          <a:solidFill>
            <a:schemeClr val="accent3"/>
          </a:solidFill>
          <a:ln w="12700">
            <a:solidFill>
              <a:schemeClr val="accent3"/>
            </a:solidFill>
            <a:prstDash val="solid"/>
          </a:ln>
        </p:spPr>
        <p:txBody>
          <a:bodyPr/>
          <a:lstStyle/>
          <a:p>
            <a:endParaRPr lang="en-AU"/>
          </a:p>
        </p:txBody>
      </p:sp>
      <p:sp>
        <p:nvSpPr>
          <p:cNvPr id="27" name="CRITICAL pill text Privilege grab"/>
          <p:cNvSpPr txBox="1"/>
          <p:nvPr/>
        </p:nvSpPr>
        <p:spPr>
          <a:xfrm>
            <a:off x="4892040" y="3913632"/>
            <a:ext cx="1600200" cy="256032"/>
          </a:xfrm>
          <a:prstGeom prst="rect">
            <a:avLst/>
          </a:prstGeom>
          <a:noFill/>
          <a:ln/>
        </p:spPr>
        <p:txBody>
          <a:bodyPr wrap="square" lIns="0" tIns="0" rIns="0" bIns="0" rtlCol="0" anchor="ctr"/>
          <a:lstStyle/>
          <a:p>
            <a:pPr marL="0" indent="0" algn="ctr">
              <a:buNone/>
            </a:pPr>
            <a:r>
              <a:rPr lang="en-US" sz="1000" b="1" dirty="0">
                <a:solidFill>
                  <a:schemeClr val="bg1"/>
                </a:solidFill>
              </a:rPr>
              <a:t>CRITICAL  </a:t>
            </a:r>
            <a:r>
              <a:rPr lang="en-US" sz="1000" dirty="0">
                <a:solidFill>
                  <a:schemeClr val="bg1"/>
                </a:solidFill>
              </a:rPr>
              <a:t>Privilege grab</a:t>
            </a:r>
            <a:endParaRPr lang="en-US" sz="1000" dirty="0"/>
          </a:p>
        </p:txBody>
      </p:sp>
      <p:sp>
        <p:nvSpPr>
          <p:cNvPr id="28" name="HIGH pill Off-hours"/>
          <p:cNvSpPr/>
          <p:nvPr/>
        </p:nvSpPr>
        <p:spPr>
          <a:xfrm>
            <a:off x="4892040" y="4224528"/>
            <a:ext cx="1600200" cy="256032"/>
          </a:xfrm>
          <a:prstGeom prst="roundRect">
            <a:avLst>
              <a:gd name="adj" fmla="val 50000"/>
            </a:avLst>
          </a:prstGeom>
          <a:solidFill>
            <a:schemeClr val="accent2"/>
          </a:solidFill>
          <a:ln w="12700">
            <a:solidFill>
              <a:schemeClr val="accent2"/>
            </a:solidFill>
            <a:prstDash val="solid"/>
          </a:ln>
        </p:spPr>
        <p:txBody>
          <a:bodyPr/>
          <a:lstStyle/>
          <a:p>
            <a:endParaRPr lang="en-AU"/>
          </a:p>
        </p:txBody>
      </p:sp>
      <p:sp>
        <p:nvSpPr>
          <p:cNvPr id="29" name="HIGH pill text Off-hours"/>
          <p:cNvSpPr txBox="1"/>
          <p:nvPr/>
        </p:nvSpPr>
        <p:spPr>
          <a:xfrm>
            <a:off x="4892040" y="4224528"/>
            <a:ext cx="1600200" cy="256032"/>
          </a:xfrm>
          <a:prstGeom prst="rect">
            <a:avLst/>
          </a:prstGeom>
          <a:noFill/>
          <a:ln/>
        </p:spPr>
        <p:txBody>
          <a:bodyPr wrap="square" lIns="0" tIns="0" rIns="0" bIns="0" rtlCol="0" anchor="ctr"/>
          <a:lstStyle/>
          <a:p>
            <a:pPr marL="0" indent="0" algn="ctr">
              <a:buNone/>
            </a:pPr>
            <a:r>
              <a:rPr lang="en-US" sz="1000" b="1" dirty="0">
                <a:solidFill>
                  <a:schemeClr val="tx1"/>
                </a:solidFill>
              </a:rPr>
              <a:t>HIGH  </a:t>
            </a:r>
            <a:r>
              <a:rPr lang="en-US" sz="1000" dirty="0">
                <a:solidFill>
                  <a:schemeClr val="tx1"/>
                </a:solidFill>
              </a:rPr>
              <a:t>Off-hours</a:t>
            </a:r>
            <a:endParaRPr lang="en-US" sz="1000" dirty="0"/>
          </a:p>
        </p:txBody>
      </p:sp>
      <p:sp>
        <p:nvSpPr>
          <p:cNvPr id="30" name="Timeline dot 02:40"/>
          <p:cNvSpPr/>
          <p:nvPr/>
        </p:nvSpPr>
        <p:spPr>
          <a:xfrm>
            <a:off x="6995160" y="2697480"/>
            <a:ext cx="310896" cy="310896"/>
          </a:xfrm>
          <a:prstGeom prst="ellipse">
            <a:avLst/>
          </a:prstGeom>
          <a:solidFill>
            <a:schemeClr val="accent3"/>
          </a:solidFill>
          <a:ln w="38100">
            <a:solidFill>
              <a:schemeClr val="bg1"/>
            </a:solidFill>
            <a:prstDash val="solid"/>
          </a:ln>
        </p:spPr>
        <p:txBody>
          <a:bodyPr/>
          <a:lstStyle/>
          <a:p>
            <a:endParaRPr lang="en-AU"/>
          </a:p>
        </p:txBody>
      </p:sp>
      <p:sp>
        <p:nvSpPr>
          <p:cNvPr id="31" name="Timeline time 02:40"/>
          <p:cNvSpPr txBox="1"/>
          <p:nvPr/>
        </p:nvSpPr>
        <p:spPr>
          <a:xfrm>
            <a:off x="6995160" y="3108960"/>
            <a:ext cx="1691640" cy="292608"/>
          </a:xfrm>
          <a:prstGeom prst="rect">
            <a:avLst/>
          </a:prstGeom>
          <a:noFill/>
          <a:ln/>
        </p:spPr>
        <p:txBody>
          <a:bodyPr wrap="square" lIns="0" tIns="0" rIns="0" bIns="0" rtlCol="0" anchor="ctr"/>
          <a:lstStyle/>
          <a:p>
            <a:pPr marL="0" indent="0">
              <a:buNone/>
            </a:pPr>
            <a:r>
              <a:rPr lang="en-US" sz="1800" b="1" dirty="0">
                <a:solidFill>
                  <a:schemeClr val="tx1"/>
                </a:solidFill>
              </a:rPr>
              <a:t>02:40</a:t>
            </a:r>
            <a:endParaRPr lang="en-US" sz="1800" dirty="0"/>
          </a:p>
        </p:txBody>
      </p:sp>
      <p:sp>
        <p:nvSpPr>
          <p:cNvPr id="32" name="Timeline event 02:40"/>
          <p:cNvSpPr txBox="1"/>
          <p:nvPr/>
        </p:nvSpPr>
        <p:spPr>
          <a:xfrm>
            <a:off x="6995160" y="3401568"/>
            <a:ext cx="1691640" cy="457200"/>
          </a:xfrm>
          <a:prstGeom prst="rect">
            <a:avLst/>
          </a:prstGeom>
          <a:noFill/>
          <a:ln/>
        </p:spPr>
        <p:txBody>
          <a:bodyPr wrap="square" lIns="0" tIns="0" rIns="0" bIns="0" rtlCol="0" anchor="t"/>
          <a:lstStyle/>
          <a:p>
            <a:pPr marL="0" indent="0">
              <a:buNone/>
            </a:pPr>
            <a:r>
              <a:rPr lang="en-US" sz="1400" dirty="0">
                <a:solidFill>
                  <a:schemeClr val="tx1"/>
                </a:solidFill>
              </a:rPr>
              <a:t>Customer database made public</a:t>
            </a:r>
            <a:endParaRPr lang="en-US" sz="1400" dirty="0"/>
          </a:p>
        </p:txBody>
      </p:sp>
      <p:sp>
        <p:nvSpPr>
          <p:cNvPr id="33" name="CRITICAL pill DB exposed"/>
          <p:cNvSpPr/>
          <p:nvPr/>
        </p:nvSpPr>
        <p:spPr>
          <a:xfrm>
            <a:off x="6995160" y="3913632"/>
            <a:ext cx="1600200" cy="256032"/>
          </a:xfrm>
          <a:prstGeom prst="roundRect">
            <a:avLst>
              <a:gd name="adj" fmla="val 50000"/>
            </a:avLst>
          </a:prstGeom>
          <a:solidFill>
            <a:schemeClr val="accent3"/>
          </a:solidFill>
          <a:ln w="12700">
            <a:solidFill>
              <a:schemeClr val="accent3"/>
            </a:solidFill>
            <a:prstDash val="solid"/>
          </a:ln>
        </p:spPr>
        <p:txBody>
          <a:bodyPr/>
          <a:lstStyle/>
          <a:p>
            <a:endParaRPr lang="en-AU"/>
          </a:p>
        </p:txBody>
      </p:sp>
      <p:sp>
        <p:nvSpPr>
          <p:cNvPr id="34" name="CRITICAL pill text DB exposed"/>
          <p:cNvSpPr txBox="1"/>
          <p:nvPr/>
        </p:nvSpPr>
        <p:spPr>
          <a:xfrm>
            <a:off x="6995160" y="3913632"/>
            <a:ext cx="1600200" cy="256032"/>
          </a:xfrm>
          <a:prstGeom prst="rect">
            <a:avLst/>
          </a:prstGeom>
          <a:noFill/>
          <a:ln/>
        </p:spPr>
        <p:txBody>
          <a:bodyPr wrap="square" lIns="0" tIns="0" rIns="0" bIns="0" rtlCol="0" anchor="ctr"/>
          <a:lstStyle/>
          <a:p>
            <a:pPr marL="0" indent="0" algn="ctr">
              <a:buNone/>
            </a:pPr>
            <a:r>
              <a:rPr lang="en-US" sz="1000" b="1" dirty="0">
                <a:solidFill>
                  <a:schemeClr val="bg1"/>
                </a:solidFill>
              </a:rPr>
              <a:t>CRITICAL  </a:t>
            </a:r>
            <a:r>
              <a:rPr lang="en-US" sz="1000" dirty="0">
                <a:solidFill>
                  <a:schemeClr val="bg1"/>
                </a:solidFill>
              </a:rPr>
              <a:t>DB exposed</a:t>
            </a:r>
            <a:endParaRPr lang="en-US" sz="1000" dirty="0"/>
          </a:p>
        </p:txBody>
      </p:sp>
      <p:sp>
        <p:nvSpPr>
          <p:cNvPr id="3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pic>
        <p:nvPicPr>
          <p:cNvPr id="38" name="Audio 37">
            <a:hlinkClick r:id="" action="ppaction://media"/>
            <a:extLst>
              <a:ext uri="{FF2B5EF4-FFF2-40B4-BE49-F238E27FC236}">
                <a16:creationId xmlns:a16="http://schemas.microsoft.com/office/drawing/2014/main" id="{35D90BA0-3038-B3DE-FE9B-1A69178E97BD}"/>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02342"/>
    </mc:Choice>
    <mc:Fallback>
      <p:transition spd="slow" advTm="1023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1"/>
                </a:solidFill>
              </a:rPr>
              <a:t>What the detections still miss</a:t>
            </a:r>
            <a:endParaRPr lang="en-US" sz="3200" dirty="0"/>
          </a:p>
        </p:txBody>
      </p:sp>
      <p:sp>
        <p:nvSpPr>
          <p:cNvPr id="3" name="Spray heading"/>
          <p:cNvSpPr txBox="1"/>
          <p:nvPr/>
        </p:nvSpPr>
        <p:spPr>
          <a:xfrm>
            <a:off x="457200" y="1051560"/>
            <a:ext cx="4023360" cy="320040"/>
          </a:xfrm>
          <a:prstGeom prst="rect">
            <a:avLst/>
          </a:prstGeom>
          <a:noFill/>
          <a:ln/>
        </p:spPr>
        <p:txBody>
          <a:bodyPr wrap="square" lIns="0" tIns="0" rIns="0" bIns="0" rtlCol="0" anchor="ctr"/>
          <a:lstStyle/>
          <a:p>
            <a:pPr marL="0" indent="0">
              <a:buNone/>
            </a:pPr>
            <a:r>
              <a:rPr lang="en-US" sz="1800" b="1" dirty="0">
                <a:solidFill>
                  <a:schemeClr val="accent1"/>
                </a:solidFill>
              </a:rPr>
              <a:t>A successful password spray</a:t>
            </a:r>
            <a:endParaRPr lang="en-US" sz="1800" dirty="0"/>
          </a:p>
        </p:txBody>
      </p:sp>
      <p:sp>
        <p:nvSpPr>
          <p:cNvPr id="4" name="Per-account card"/>
          <p:cNvSpPr/>
          <p:nvPr/>
        </p:nvSpPr>
        <p:spPr>
          <a:xfrm>
            <a:off x="457200" y="1463040"/>
            <a:ext cx="4023360" cy="1325880"/>
          </a:xfrm>
          <a:prstGeom prst="roundRect">
            <a:avLst>
              <a:gd name="adj" fmla="val 8276"/>
            </a:avLst>
          </a:prstGeom>
          <a:solidFill>
            <a:schemeClr val="bg2"/>
          </a:solidFill>
          <a:ln w="12700">
            <a:solidFill>
              <a:schemeClr val="bg2"/>
            </a:solidFill>
            <a:prstDash val="solid"/>
          </a:ln>
        </p:spPr>
        <p:txBody>
          <a:bodyPr/>
          <a:lstStyle/>
          <a:p>
            <a:endParaRPr lang="en-AU"/>
          </a:p>
        </p:txBody>
      </p:sp>
      <p:sp>
        <p:nvSpPr>
          <p:cNvPr id="5" name="Per-account circle"/>
          <p:cNvSpPr/>
          <p:nvPr/>
        </p:nvSpPr>
        <p:spPr>
          <a:xfrm>
            <a:off x="685800" y="1897380"/>
            <a:ext cx="457200" cy="457200"/>
          </a:xfrm>
          <a:prstGeom prst="ellipse">
            <a:avLst/>
          </a:prstGeom>
          <a:solidFill>
            <a:schemeClr val="accent4"/>
          </a:solidFill>
          <a:ln w="12700">
            <a:solidFill>
              <a:schemeClr val="accent4"/>
            </a:solidFill>
            <a:prstDash val="solid"/>
          </a:ln>
        </p:spPr>
        <p:txBody>
          <a:bodyPr/>
          <a:lstStyle/>
          <a:p>
            <a:endParaRPr lang="en-AU"/>
          </a:p>
        </p:txBody>
      </p:sp>
      <p:pic>
        <p:nvPicPr>
          <p:cNvPr id="6" name="Per-account icon" descr="preencoded.png"/>
          <p:cNvPicPr>
            <a:picLocks noChangeAspect="1"/>
          </p:cNvPicPr>
          <p:nvPr/>
        </p:nvPicPr>
        <p:blipFill>
          <a:blip r:embed="rId5"/>
          <a:stretch>
            <a:fillRect/>
          </a:stretch>
        </p:blipFill>
        <p:spPr>
          <a:xfrm>
            <a:off x="809244" y="2020824"/>
            <a:ext cx="210312" cy="210312"/>
          </a:xfrm>
          <a:prstGeom prst="rect">
            <a:avLst/>
          </a:prstGeom>
        </p:spPr>
      </p:pic>
      <p:sp>
        <p:nvSpPr>
          <p:cNvPr id="7" name="Per-account text"/>
          <p:cNvSpPr txBox="1"/>
          <p:nvPr/>
        </p:nvSpPr>
        <p:spPr>
          <a:xfrm>
            <a:off x="1280160" y="1463040"/>
            <a:ext cx="3017520" cy="1325880"/>
          </a:xfrm>
          <a:prstGeom prst="rect">
            <a:avLst/>
          </a:prstGeom>
          <a:noFill/>
          <a:ln/>
        </p:spPr>
        <p:txBody>
          <a:bodyPr wrap="square" lIns="0" tIns="0" rIns="0" bIns="0" rtlCol="0" anchor="ctr"/>
          <a:lstStyle/>
          <a:p>
            <a:pPr marL="0" indent="0">
              <a:buNone/>
            </a:pPr>
            <a:r>
              <a:rPr lang="en-US" sz="1400" b="1" dirty="0">
                <a:solidFill>
                  <a:schemeClr val="tx1"/>
                </a:solidFill>
              </a:rPr>
              <a:t>Rule per account</a:t>
            </a:r>
            <a:endParaRPr lang="en-US" sz="1400" dirty="0"/>
          </a:p>
          <a:p>
            <a:pPr marL="0" indent="0">
              <a:buNone/>
            </a:pPr>
            <a:r>
              <a:rPr lang="en-US" sz="1400" dirty="0">
                <a:solidFill>
                  <a:schemeClr val="tx1"/>
                </a:solidFill>
              </a:rPr>
              <a:t>The account that fell saw 1 failure, and the rule needs 5. It stays silent.</a:t>
            </a:r>
            <a:endParaRPr lang="en-US" sz="1400" dirty="0"/>
          </a:p>
        </p:txBody>
      </p:sp>
      <p:sp>
        <p:nvSpPr>
          <p:cNvPr id="8" name="Correlation card"/>
          <p:cNvSpPr/>
          <p:nvPr/>
        </p:nvSpPr>
        <p:spPr>
          <a:xfrm>
            <a:off x="457200" y="2971800"/>
            <a:ext cx="4023360" cy="1325880"/>
          </a:xfrm>
          <a:prstGeom prst="roundRect">
            <a:avLst>
              <a:gd name="adj" fmla="val 8276"/>
            </a:avLst>
          </a:prstGeom>
          <a:solidFill>
            <a:schemeClr val="accent1"/>
          </a:solidFill>
          <a:ln w="12700">
            <a:solidFill>
              <a:schemeClr val="accent1"/>
            </a:solidFill>
            <a:prstDash val="solid"/>
          </a:ln>
          <a:effectLst>
            <a:outerShdw blurRad="127000" dist="25400" dir="5400000" algn="bl" rotWithShape="0">
              <a:srgbClr val="0B1F24">
                <a:alpha val="14000"/>
              </a:srgbClr>
            </a:outerShdw>
          </a:effectLst>
        </p:spPr>
        <p:txBody>
          <a:bodyPr/>
          <a:lstStyle/>
          <a:p>
            <a:endParaRPr lang="en-AU"/>
          </a:p>
        </p:txBody>
      </p:sp>
      <p:sp>
        <p:nvSpPr>
          <p:cNvPr id="9" name="Correlation circle"/>
          <p:cNvSpPr/>
          <p:nvPr/>
        </p:nvSpPr>
        <p:spPr>
          <a:xfrm>
            <a:off x="685800" y="3406140"/>
            <a:ext cx="457200" cy="457200"/>
          </a:xfrm>
          <a:prstGeom prst="ellipse">
            <a:avLst/>
          </a:prstGeom>
          <a:solidFill>
            <a:schemeClr val="tx2"/>
          </a:solidFill>
          <a:ln w="12700">
            <a:solidFill>
              <a:schemeClr val="tx2"/>
            </a:solidFill>
            <a:prstDash val="solid"/>
          </a:ln>
        </p:spPr>
        <p:txBody>
          <a:bodyPr/>
          <a:lstStyle/>
          <a:p>
            <a:endParaRPr lang="en-AU"/>
          </a:p>
        </p:txBody>
      </p:sp>
      <p:pic>
        <p:nvPicPr>
          <p:cNvPr id="10" name="Correlation icon" descr="preencoded.png"/>
          <p:cNvPicPr>
            <a:picLocks noChangeAspect="1"/>
          </p:cNvPicPr>
          <p:nvPr/>
        </p:nvPicPr>
        <p:blipFill>
          <a:blip r:embed="rId6"/>
          <a:stretch>
            <a:fillRect/>
          </a:stretch>
        </p:blipFill>
        <p:spPr>
          <a:xfrm>
            <a:off x="809244" y="3529584"/>
            <a:ext cx="210312" cy="210312"/>
          </a:xfrm>
          <a:prstGeom prst="rect">
            <a:avLst/>
          </a:prstGeom>
        </p:spPr>
      </p:pic>
      <p:sp>
        <p:nvSpPr>
          <p:cNvPr id="11" name="Correlation text"/>
          <p:cNvSpPr txBox="1"/>
          <p:nvPr/>
        </p:nvSpPr>
        <p:spPr>
          <a:xfrm>
            <a:off x="1280160" y="2971800"/>
            <a:ext cx="3017520" cy="1325880"/>
          </a:xfrm>
          <a:prstGeom prst="rect">
            <a:avLst/>
          </a:prstGeom>
          <a:noFill/>
          <a:ln/>
        </p:spPr>
        <p:txBody>
          <a:bodyPr wrap="square" lIns="0" tIns="0" rIns="0" bIns="0" rtlCol="0" anchor="ctr"/>
          <a:lstStyle/>
          <a:p>
            <a:pPr marL="0" indent="0">
              <a:buNone/>
            </a:pPr>
            <a:r>
              <a:rPr lang="en-US" sz="1400" b="1" dirty="0">
                <a:solidFill>
                  <a:schemeClr val="bg1"/>
                </a:solidFill>
              </a:rPr>
              <a:t>Correlate by source IP</a:t>
            </a:r>
            <a:endParaRPr lang="en-US" sz="1400" dirty="0"/>
          </a:p>
          <a:p>
            <a:pPr marL="0" indent="0">
              <a:buNone/>
            </a:pPr>
            <a:r>
              <a:rPr lang="en-US" sz="1400" dirty="0">
                <a:solidFill>
                  <a:schemeClr val="bg1"/>
                </a:solidFill>
              </a:rPr>
              <a:t>12 accounts tried from one IP, then a success: flagged critical.</a:t>
            </a:r>
            <a:endParaRPr lang="en-US" sz="1400" dirty="0"/>
          </a:p>
        </p:txBody>
      </p:sp>
      <p:sp>
        <p:nvSpPr>
          <p:cNvPr id="12" name="Limits heading"/>
          <p:cNvSpPr txBox="1"/>
          <p:nvPr/>
        </p:nvSpPr>
        <p:spPr>
          <a:xfrm>
            <a:off x="4846320" y="1051560"/>
            <a:ext cx="3840480" cy="320040"/>
          </a:xfrm>
          <a:prstGeom prst="rect">
            <a:avLst/>
          </a:prstGeom>
          <a:noFill/>
          <a:ln/>
        </p:spPr>
        <p:txBody>
          <a:bodyPr wrap="square" lIns="0" tIns="0" rIns="0" bIns="0" rtlCol="0" anchor="ctr"/>
          <a:lstStyle/>
          <a:p>
            <a:pPr marL="0" indent="0">
              <a:buNone/>
            </a:pPr>
            <a:r>
              <a:rPr lang="en-US" sz="1800" b="1" dirty="0">
                <a:solidFill>
                  <a:schemeClr val="accent3"/>
                </a:solidFill>
              </a:rPr>
              <a:t>Still out of reach</a:t>
            </a:r>
            <a:endParaRPr lang="en-US" sz="1800" dirty="0"/>
          </a:p>
        </p:txBody>
      </p:sp>
      <p:sp>
        <p:nvSpPr>
          <p:cNvPr id="13" name="Limit Rotating IPs circle"/>
          <p:cNvSpPr/>
          <p:nvPr/>
        </p:nvSpPr>
        <p:spPr>
          <a:xfrm>
            <a:off x="4846320" y="1527048"/>
            <a:ext cx="438912" cy="438912"/>
          </a:xfrm>
          <a:prstGeom prst="ellipse">
            <a:avLst/>
          </a:prstGeom>
          <a:solidFill>
            <a:schemeClr val="bg2"/>
          </a:solidFill>
          <a:ln w="12700">
            <a:solidFill>
              <a:schemeClr val="bg2"/>
            </a:solidFill>
            <a:prstDash val="solid"/>
          </a:ln>
        </p:spPr>
        <p:txBody>
          <a:bodyPr/>
          <a:lstStyle/>
          <a:p>
            <a:endParaRPr lang="en-AU"/>
          </a:p>
        </p:txBody>
      </p:sp>
      <p:pic>
        <p:nvPicPr>
          <p:cNvPr id="14" name="Limit Rotating IPs icon" descr="preencoded.png"/>
          <p:cNvPicPr>
            <a:picLocks noChangeAspect="1"/>
          </p:cNvPicPr>
          <p:nvPr/>
        </p:nvPicPr>
        <p:blipFill>
          <a:blip r:embed="rId7"/>
          <a:stretch>
            <a:fillRect/>
          </a:stretch>
        </p:blipFill>
        <p:spPr>
          <a:xfrm>
            <a:off x="4964826" y="1645554"/>
            <a:ext cx="201900" cy="201900"/>
          </a:xfrm>
          <a:prstGeom prst="rect">
            <a:avLst/>
          </a:prstGeom>
        </p:spPr>
      </p:pic>
      <p:sp>
        <p:nvSpPr>
          <p:cNvPr id="15" name="Limit text Rotating IPs"/>
          <p:cNvSpPr txBox="1"/>
          <p:nvPr/>
        </p:nvSpPr>
        <p:spPr>
          <a:xfrm>
            <a:off x="5440680" y="1481328"/>
            <a:ext cx="3246120" cy="640080"/>
          </a:xfrm>
          <a:prstGeom prst="rect">
            <a:avLst/>
          </a:prstGeom>
          <a:noFill/>
          <a:ln/>
        </p:spPr>
        <p:txBody>
          <a:bodyPr wrap="square" lIns="0" tIns="0" rIns="0" bIns="0" rtlCol="0" anchor="ctr"/>
          <a:lstStyle/>
          <a:p>
            <a:pPr marL="0" indent="0">
              <a:buNone/>
            </a:pPr>
            <a:r>
              <a:rPr lang="en-US" sz="1400" b="1" dirty="0">
                <a:solidFill>
                  <a:schemeClr val="tx1"/>
                </a:solidFill>
              </a:rPr>
              <a:t>Rotating IPs</a:t>
            </a:r>
            <a:endParaRPr lang="en-US" sz="1400" dirty="0"/>
          </a:p>
          <a:p>
            <a:pPr marL="0" indent="0">
              <a:buNone/>
            </a:pPr>
            <a:r>
              <a:rPr lang="en-US" sz="1400" dirty="0">
                <a:solidFill>
                  <a:schemeClr val="tx1"/>
                </a:solidFill>
              </a:rPr>
              <a:t>Midnight Blizzard sprayed through residential proxies</a:t>
            </a:r>
            <a:endParaRPr lang="en-US" sz="1400" dirty="0"/>
          </a:p>
        </p:txBody>
      </p:sp>
      <p:sp>
        <p:nvSpPr>
          <p:cNvPr id="16" name="Limit Fixed thresholds circle"/>
          <p:cNvSpPr/>
          <p:nvPr/>
        </p:nvSpPr>
        <p:spPr>
          <a:xfrm>
            <a:off x="4846320" y="2240280"/>
            <a:ext cx="438912" cy="438912"/>
          </a:xfrm>
          <a:prstGeom prst="ellipse">
            <a:avLst/>
          </a:prstGeom>
          <a:solidFill>
            <a:schemeClr val="bg2"/>
          </a:solidFill>
          <a:ln w="12700">
            <a:solidFill>
              <a:schemeClr val="bg2"/>
            </a:solidFill>
            <a:prstDash val="solid"/>
          </a:ln>
        </p:spPr>
        <p:txBody>
          <a:bodyPr/>
          <a:lstStyle/>
          <a:p>
            <a:endParaRPr lang="en-AU"/>
          </a:p>
        </p:txBody>
      </p:sp>
      <p:pic>
        <p:nvPicPr>
          <p:cNvPr id="17" name="Limit Fixed thresholds icon" descr="preencoded.png"/>
          <p:cNvPicPr>
            <a:picLocks noChangeAspect="1"/>
          </p:cNvPicPr>
          <p:nvPr/>
        </p:nvPicPr>
        <p:blipFill>
          <a:blip r:embed="rId8"/>
          <a:stretch>
            <a:fillRect/>
          </a:stretch>
        </p:blipFill>
        <p:spPr>
          <a:xfrm>
            <a:off x="4964826" y="2358786"/>
            <a:ext cx="201900" cy="201900"/>
          </a:xfrm>
          <a:prstGeom prst="rect">
            <a:avLst/>
          </a:prstGeom>
        </p:spPr>
      </p:pic>
      <p:sp>
        <p:nvSpPr>
          <p:cNvPr id="18" name="Limit text Fixed thresholds"/>
          <p:cNvSpPr txBox="1"/>
          <p:nvPr/>
        </p:nvSpPr>
        <p:spPr>
          <a:xfrm>
            <a:off x="5440680" y="2194560"/>
            <a:ext cx="3246120" cy="640080"/>
          </a:xfrm>
          <a:prstGeom prst="rect">
            <a:avLst/>
          </a:prstGeom>
          <a:noFill/>
          <a:ln/>
        </p:spPr>
        <p:txBody>
          <a:bodyPr wrap="square" lIns="0" tIns="0" rIns="0" bIns="0" rtlCol="0" anchor="ctr"/>
          <a:lstStyle/>
          <a:p>
            <a:pPr marL="0" indent="0">
              <a:buNone/>
            </a:pPr>
            <a:r>
              <a:rPr lang="en-US" sz="1400" b="1" dirty="0">
                <a:solidFill>
                  <a:schemeClr val="tx1"/>
                </a:solidFill>
              </a:rPr>
              <a:t>Fixed thresholds</a:t>
            </a:r>
            <a:endParaRPr lang="en-US" sz="1400" dirty="0"/>
          </a:p>
          <a:p>
            <a:pPr marL="0" indent="0">
              <a:buNone/>
            </a:pPr>
            <a:r>
              <a:rPr lang="en-US" sz="1400" dirty="0">
                <a:solidFill>
                  <a:schemeClr val="tx1"/>
                </a:solidFill>
              </a:rPr>
              <a:t>An attacker who learns them stays under</a:t>
            </a:r>
            <a:endParaRPr lang="en-US" sz="1400" dirty="0"/>
          </a:p>
        </p:txBody>
      </p:sp>
      <p:sp>
        <p:nvSpPr>
          <p:cNvPr id="19" name="Limit Synthetic data circle"/>
          <p:cNvSpPr/>
          <p:nvPr/>
        </p:nvSpPr>
        <p:spPr>
          <a:xfrm>
            <a:off x="4846320" y="2953512"/>
            <a:ext cx="438912" cy="438912"/>
          </a:xfrm>
          <a:prstGeom prst="ellipse">
            <a:avLst/>
          </a:prstGeom>
          <a:solidFill>
            <a:schemeClr val="bg2"/>
          </a:solidFill>
          <a:ln w="12700">
            <a:solidFill>
              <a:schemeClr val="bg2"/>
            </a:solidFill>
            <a:prstDash val="solid"/>
          </a:ln>
        </p:spPr>
        <p:txBody>
          <a:bodyPr/>
          <a:lstStyle/>
          <a:p>
            <a:endParaRPr lang="en-AU"/>
          </a:p>
        </p:txBody>
      </p:sp>
      <p:pic>
        <p:nvPicPr>
          <p:cNvPr id="20" name="Limit Synthetic data icon" descr="preencoded.png"/>
          <p:cNvPicPr>
            <a:picLocks noChangeAspect="1"/>
          </p:cNvPicPr>
          <p:nvPr/>
        </p:nvPicPr>
        <p:blipFill>
          <a:blip r:embed="rId9"/>
          <a:stretch>
            <a:fillRect/>
          </a:stretch>
        </p:blipFill>
        <p:spPr>
          <a:xfrm>
            <a:off x="4964826" y="3072018"/>
            <a:ext cx="201900" cy="201900"/>
          </a:xfrm>
          <a:prstGeom prst="rect">
            <a:avLst/>
          </a:prstGeom>
        </p:spPr>
      </p:pic>
      <p:sp>
        <p:nvSpPr>
          <p:cNvPr id="21" name="Limit text Synthetic data"/>
          <p:cNvSpPr txBox="1"/>
          <p:nvPr/>
        </p:nvSpPr>
        <p:spPr>
          <a:xfrm>
            <a:off x="5440680" y="2907792"/>
            <a:ext cx="3246120" cy="640080"/>
          </a:xfrm>
          <a:prstGeom prst="rect">
            <a:avLst/>
          </a:prstGeom>
          <a:noFill/>
          <a:ln/>
        </p:spPr>
        <p:txBody>
          <a:bodyPr wrap="square" lIns="0" tIns="0" rIns="0" bIns="0" rtlCol="0" anchor="ctr"/>
          <a:lstStyle/>
          <a:p>
            <a:pPr marL="0" indent="0">
              <a:buNone/>
            </a:pPr>
            <a:r>
              <a:rPr lang="en-US" sz="1400" b="1" dirty="0">
                <a:solidFill>
                  <a:schemeClr val="tx1"/>
                </a:solidFill>
              </a:rPr>
              <a:t>Synthetic data</a:t>
            </a:r>
            <a:endParaRPr lang="en-US" sz="1400" dirty="0"/>
          </a:p>
          <a:p>
            <a:pPr marL="0" indent="0">
              <a:buNone/>
            </a:pPr>
            <a:r>
              <a:rPr lang="en-US" sz="1400" dirty="0">
                <a:solidFill>
                  <a:schemeClr val="tx1"/>
                </a:solidFill>
              </a:rPr>
              <a:t>Proves the logic, not real-world precision</a:t>
            </a:r>
            <a:endParaRPr lang="en-US" sz="1400" dirty="0"/>
          </a:p>
        </p:txBody>
      </p:sp>
      <p:sp>
        <p:nvSpPr>
          <p:cNvPr id="22" name="Limit Time zones circle"/>
          <p:cNvSpPr/>
          <p:nvPr/>
        </p:nvSpPr>
        <p:spPr>
          <a:xfrm>
            <a:off x="4846320" y="3666744"/>
            <a:ext cx="438912" cy="438912"/>
          </a:xfrm>
          <a:prstGeom prst="ellipse">
            <a:avLst/>
          </a:prstGeom>
          <a:solidFill>
            <a:schemeClr val="bg2"/>
          </a:solidFill>
          <a:ln w="12700">
            <a:solidFill>
              <a:schemeClr val="bg2"/>
            </a:solidFill>
            <a:prstDash val="solid"/>
          </a:ln>
        </p:spPr>
        <p:txBody>
          <a:bodyPr/>
          <a:lstStyle/>
          <a:p>
            <a:endParaRPr lang="en-AU"/>
          </a:p>
        </p:txBody>
      </p:sp>
      <p:pic>
        <p:nvPicPr>
          <p:cNvPr id="23" name="Limit Time zones icon" descr="preencoded.png"/>
          <p:cNvPicPr>
            <a:picLocks noChangeAspect="1"/>
          </p:cNvPicPr>
          <p:nvPr/>
        </p:nvPicPr>
        <p:blipFill>
          <a:blip r:embed="rId10"/>
          <a:stretch>
            <a:fillRect/>
          </a:stretch>
        </p:blipFill>
        <p:spPr>
          <a:xfrm>
            <a:off x="4964826" y="3785250"/>
            <a:ext cx="201900" cy="201900"/>
          </a:xfrm>
          <a:prstGeom prst="rect">
            <a:avLst/>
          </a:prstGeom>
        </p:spPr>
      </p:pic>
      <p:sp>
        <p:nvSpPr>
          <p:cNvPr id="24" name="Limit text Time zones"/>
          <p:cNvSpPr txBox="1"/>
          <p:nvPr/>
        </p:nvSpPr>
        <p:spPr>
          <a:xfrm>
            <a:off x="5440680" y="3621024"/>
            <a:ext cx="3246120" cy="640080"/>
          </a:xfrm>
          <a:prstGeom prst="rect">
            <a:avLst/>
          </a:prstGeom>
          <a:noFill/>
          <a:ln/>
        </p:spPr>
        <p:txBody>
          <a:bodyPr wrap="square" lIns="0" tIns="0" rIns="0" bIns="0" rtlCol="0" anchor="ctr"/>
          <a:lstStyle/>
          <a:p>
            <a:pPr marL="0" indent="0">
              <a:buNone/>
            </a:pPr>
            <a:r>
              <a:rPr lang="en-US" sz="1400" b="1" dirty="0">
                <a:solidFill>
                  <a:schemeClr val="tx1"/>
                </a:solidFill>
              </a:rPr>
              <a:t>Time zones</a:t>
            </a:r>
            <a:endParaRPr lang="en-US" sz="1400" dirty="0"/>
          </a:p>
          <a:p>
            <a:pPr marL="0" indent="0">
              <a:buNone/>
            </a:pPr>
            <a:r>
              <a:rPr lang="en-US" sz="1400" dirty="0">
                <a:solidFill>
                  <a:schemeClr val="tx1"/>
                </a:solidFill>
              </a:rPr>
              <a:t>Real logs are UTC across many regions</a:t>
            </a:r>
            <a:endParaRPr lang="en-US" sz="14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pic>
        <p:nvPicPr>
          <p:cNvPr id="27" name="Audio 26">
            <a:hlinkClick r:id="" action="ppaction://media"/>
            <a:extLst>
              <a:ext uri="{FF2B5EF4-FFF2-40B4-BE49-F238E27FC236}">
                <a16:creationId xmlns:a16="http://schemas.microsoft.com/office/drawing/2014/main" id="{99D8C4C3-918D-B58E-DAAA-ADA64D4740A0}"/>
              </a:ext>
            </a:extLst>
          </p:cNvPr>
          <p:cNvPicPr>
            <a:picLocks noChangeAspect="1"/>
          </p:cNvPicPr>
          <p:nvPr>
            <a:audioFile r:link="rId2"/>
            <p:extLst>
              <p:ext uri="{DAA4B4D4-6D71-4841-9C94-3DE7FCFB9230}">
                <p14:media xmlns:p14="http://schemas.microsoft.com/office/powerpoint/2010/main" r:embed="rId1"/>
              </p:ext>
            </p:extLst>
          </p:nvPr>
        </p:nvPicPr>
        <p:blipFill>
          <a:blip r:embed="rId11"/>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92407"/>
    </mc:Choice>
    <mc:Fallback>
      <p:transition spd="slow" advTm="924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bg1"/>
                </a:solidFill>
              </a:rPr>
              <a:t>Make the customer's half someone's job</a:t>
            </a:r>
            <a:endParaRPr lang="en-US" sz="3200" dirty="0"/>
          </a:p>
        </p:txBody>
      </p:sp>
      <p:sp>
        <p:nvSpPr>
          <p:cNvPr id="3" name="Rec card 1"/>
          <p:cNvSpPr/>
          <p:nvPr/>
        </p:nvSpPr>
        <p:spPr>
          <a:xfrm>
            <a:off x="457200" y="1143000"/>
            <a:ext cx="3977640" cy="1417320"/>
          </a:xfrm>
          <a:prstGeom prst="roundRect">
            <a:avLst>
              <a:gd name="adj" fmla="val 7742"/>
            </a:avLst>
          </a:prstGeom>
          <a:solidFill>
            <a:schemeClr val="tx2"/>
          </a:solidFill>
          <a:ln w="12700">
            <a:solidFill>
              <a:schemeClr val="tx2"/>
            </a:solidFill>
            <a:prstDash val="solid"/>
          </a:ln>
        </p:spPr>
        <p:txBody>
          <a:bodyPr/>
          <a:lstStyle/>
          <a:p>
            <a:endParaRPr lang="en-AU"/>
          </a:p>
        </p:txBody>
      </p:sp>
      <p:sp>
        <p:nvSpPr>
          <p:cNvPr id="4" name="Rec number 1"/>
          <p:cNvSpPr txBox="1"/>
          <p:nvPr/>
        </p:nvSpPr>
        <p:spPr>
          <a:xfrm>
            <a:off x="685800" y="1143000"/>
            <a:ext cx="548640" cy="1417320"/>
          </a:xfrm>
          <a:prstGeom prst="rect">
            <a:avLst/>
          </a:prstGeom>
          <a:noFill/>
          <a:ln/>
        </p:spPr>
        <p:txBody>
          <a:bodyPr wrap="square" lIns="0" tIns="0" rIns="0" bIns="0" rtlCol="0" anchor="ctr"/>
          <a:lstStyle/>
          <a:p>
            <a:pPr marL="0" indent="0">
              <a:buNone/>
            </a:pPr>
            <a:r>
              <a:rPr lang="en-US" sz="4400" b="1" dirty="0">
                <a:solidFill>
                  <a:schemeClr val="accent6"/>
                </a:solidFill>
              </a:rPr>
              <a:t>1</a:t>
            </a:r>
            <a:endParaRPr lang="en-US" sz="4400" dirty="0"/>
          </a:p>
        </p:txBody>
      </p:sp>
      <p:sp>
        <p:nvSpPr>
          <p:cNvPr id="5" name="Rec text 1"/>
          <p:cNvSpPr txBox="1"/>
          <p:nvPr/>
        </p:nvSpPr>
        <p:spPr>
          <a:xfrm>
            <a:off x="1325880" y="1234440"/>
            <a:ext cx="2880360" cy="1234440"/>
          </a:xfrm>
          <a:prstGeom prst="rect">
            <a:avLst/>
          </a:prstGeom>
          <a:noFill/>
          <a:ln/>
        </p:spPr>
        <p:txBody>
          <a:bodyPr wrap="square" lIns="0" tIns="0" rIns="0" bIns="0" rtlCol="0" anchor="ctr"/>
          <a:lstStyle/>
          <a:p>
            <a:pPr marL="0" indent="0">
              <a:buNone/>
            </a:pPr>
            <a:r>
              <a:rPr lang="en-US" sz="1700" b="1" dirty="0">
                <a:solidFill>
                  <a:schemeClr val="bg1"/>
                </a:solidFill>
              </a:rPr>
              <a:t>MFA on every identity</a:t>
            </a:r>
            <a:endParaRPr lang="en-US" sz="1700" dirty="0"/>
          </a:p>
          <a:p>
            <a:pPr marL="0" indent="0">
              <a:buNone/>
            </a:pPr>
            <a:r>
              <a:rPr lang="en-US" sz="1400" dirty="0">
                <a:solidFill>
                  <a:schemeClr val="accent5"/>
                </a:solidFill>
              </a:rPr>
              <a:t>Including test and service accounts, and audit for accounts with no owner</a:t>
            </a:r>
            <a:endParaRPr lang="en-US" sz="1700" dirty="0"/>
          </a:p>
        </p:txBody>
      </p:sp>
      <p:sp>
        <p:nvSpPr>
          <p:cNvPr id="6" name="Rec card 2"/>
          <p:cNvSpPr/>
          <p:nvPr/>
        </p:nvSpPr>
        <p:spPr>
          <a:xfrm>
            <a:off x="4709160" y="1143000"/>
            <a:ext cx="3977640" cy="1417320"/>
          </a:xfrm>
          <a:prstGeom prst="roundRect">
            <a:avLst>
              <a:gd name="adj" fmla="val 7742"/>
            </a:avLst>
          </a:prstGeom>
          <a:solidFill>
            <a:schemeClr val="tx2"/>
          </a:solidFill>
          <a:ln w="12700">
            <a:solidFill>
              <a:schemeClr val="tx2"/>
            </a:solidFill>
            <a:prstDash val="solid"/>
          </a:ln>
        </p:spPr>
        <p:txBody>
          <a:bodyPr/>
          <a:lstStyle/>
          <a:p>
            <a:endParaRPr lang="en-AU"/>
          </a:p>
        </p:txBody>
      </p:sp>
      <p:sp>
        <p:nvSpPr>
          <p:cNvPr id="7" name="Rec number 2"/>
          <p:cNvSpPr txBox="1"/>
          <p:nvPr/>
        </p:nvSpPr>
        <p:spPr>
          <a:xfrm>
            <a:off x="4937760" y="1143000"/>
            <a:ext cx="548640" cy="1417320"/>
          </a:xfrm>
          <a:prstGeom prst="rect">
            <a:avLst/>
          </a:prstGeom>
          <a:noFill/>
          <a:ln/>
        </p:spPr>
        <p:txBody>
          <a:bodyPr wrap="square" lIns="0" tIns="0" rIns="0" bIns="0" rtlCol="0" anchor="ctr"/>
          <a:lstStyle/>
          <a:p>
            <a:pPr marL="0" indent="0">
              <a:buNone/>
            </a:pPr>
            <a:r>
              <a:rPr lang="en-US" sz="4400" b="1" dirty="0">
                <a:solidFill>
                  <a:schemeClr val="accent6"/>
                </a:solidFill>
              </a:rPr>
              <a:t>2</a:t>
            </a:r>
            <a:endParaRPr lang="en-US" sz="4400" dirty="0"/>
          </a:p>
        </p:txBody>
      </p:sp>
      <p:sp>
        <p:nvSpPr>
          <p:cNvPr id="8" name="Rec text 2"/>
          <p:cNvSpPr txBox="1"/>
          <p:nvPr/>
        </p:nvSpPr>
        <p:spPr>
          <a:xfrm>
            <a:off x="5577840" y="1234440"/>
            <a:ext cx="2880360" cy="1234440"/>
          </a:xfrm>
          <a:prstGeom prst="rect">
            <a:avLst/>
          </a:prstGeom>
          <a:noFill/>
          <a:ln/>
        </p:spPr>
        <p:txBody>
          <a:bodyPr wrap="square" lIns="0" tIns="0" rIns="0" bIns="0" rtlCol="0" anchor="ctr"/>
          <a:lstStyle/>
          <a:p>
            <a:pPr marL="0" indent="0">
              <a:buNone/>
            </a:pPr>
            <a:r>
              <a:rPr lang="en-US" sz="1700" b="1" dirty="0">
                <a:solidFill>
                  <a:schemeClr val="bg1"/>
                </a:solidFill>
              </a:rPr>
              <a:t>Public access is the exception</a:t>
            </a:r>
            <a:endParaRPr lang="en-US" sz="1700" dirty="0"/>
          </a:p>
          <a:p>
            <a:pPr marL="0" indent="0">
              <a:buNone/>
            </a:pPr>
            <a:r>
              <a:rPr lang="en-US" sz="1400" dirty="0">
                <a:solidFill>
                  <a:schemeClr val="accent5"/>
                </a:solidFill>
              </a:rPr>
              <a:t>Alert on any change that makes a database reachable</a:t>
            </a:r>
            <a:endParaRPr lang="en-US" sz="1700" dirty="0"/>
          </a:p>
        </p:txBody>
      </p:sp>
      <p:sp>
        <p:nvSpPr>
          <p:cNvPr id="9" name="Rec card 3"/>
          <p:cNvSpPr/>
          <p:nvPr/>
        </p:nvSpPr>
        <p:spPr>
          <a:xfrm>
            <a:off x="457200" y="2834640"/>
            <a:ext cx="3977640" cy="1417320"/>
          </a:xfrm>
          <a:prstGeom prst="roundRect">
            <a:avLst>
              <a:gd name="adj" fmla="val 7742"/>
            </a:avLst>
          </a:prstGeom>
          <a:solidFill>
            <a:schemeClr val="tx2"/>
          </a:solidFill>
          <a:ln w="12700">
            <a:solidFill>
              <a:schemeClr val="tx2"/>
            </a:solidFill>
            <a:prstDash val="solid"/>
          </a:ln>
        </p:spPr>
        <p:txBody>
          <a:bodyPr/>
          <a:lstStyle/>
          <a:p>
            <a:endParaRPr lang="en-AU"/>
          </a:p>
        </p:txBody>
      </p:sp>
      <p:sp>
        <p:nvSpPr>
          <p:cNvPr id="10" name="Rec number 3"/>
          <p:cNvSpPr txBox="1"/>
          <p:nvPr/>
        </p:nvSpPr>
        <p:spPr>
          <a:xfrm>
            <a:off x="685800" y="2834640"/>
            <a:ext cx="548640" cy="1417320"/>
          </a:xfrm>
          <a:prstGeom prst="rect">
            <a:avLst/>
          </a:prstGeom>
          <a:noFill/>
          <a:ln/>
        </p:spPr>
        <p:txBody>
          <a:bodyPr wrap="square" lIns="0" tIns="0" rIns="0" bIns="0" rtlCol="0" anchor="ctr"/>
          <a:lstStyle/>
          <a:p>
            <a:pPr marL="0" indent="0">
              <a:buNone/>
            </a:pPr>
            <a:r>
              <a:rPr lang="en-US" sz="4400" b="1" dirty="0">
                <a:solidFill>
                  <a:schemeClr val="accent6"/>
                </a:solidFill>
              </a:rPr>
              <a:t>3</a:t>
            </a:r>
            <a:endParaRPr lang="en-US" sz="4400" dirty="0"/>
          </a:p>
        </p:txBody>
      </p:sp>
      <p:sp>
        <p:nvSpPr>
          <p:cNvPr id="11" name="Rec text 3"/>
          <p:cNvSpPr txBox="1"/>
          <p:nvPr/>
        </p:nvSpPr>
        <p:spPr>
          <a:xfrm>
            <a:off x="1325880" y="2926080"/>
            <a:ext cx="2880360" cy="1234440"/>
          </a:xfrm>
          <a:prstGeom prst="rect">
            <a:avLst/>
          </a:prstGeom>
          <a:noFill/>
          <a:ln/>
        </p:spPr>
        <p:txBody>
          <a:bodyPr wrap="square" lIns="0" tIns="0" rIns="0" bIns="0" rtlCol="0" anchor="ctr"/>
          <a:lstStyle/>
          <a:p>
            <a:pPr marL="0" indent="0">
              <a:buNone/>
            </a:pPr>
            <a:r>
              <a:rPr lang="en-US" sz="1700" b="1" dirty="0">
                <a:solidFill>
                  <a:schemeClr val="bg1"/>
                </a:solidFill>
              </a:rPr>
              <a:t>Review permissions against use</a:t>
            </a:r>
            <a:endParaRPr lang="en-US" sz="1700" dirty="0"/>
          </a:p>
          <a:p>
            <a:pPr marL="0" indent="0">
              <a:buNone/>
            </a:pPr>
            <a:r>
              <a:rPr lang="en-US" sz="1400" dirty="0">
                <a:solidFill>
                  <a:schemeClr val="accent5"/>
                </a:solidFill>
              </a:rPr>
              <a:t>On a schedule, not only when a role is created</a:t>
            </a:r>
            <a:endParaRPr lang="en-US" sz="1700" dirty="0"/>
          </a:p>
        </p:txBody>
      </p:sp>
      <p:sp>
        <p:nvSpPr>
          <p:cNvPr id="12" name="Rec card 4"/>
          <p:cNvSpPr/>
          <p:nvPr/>
        </p:nvSpPr>
        <p:spPr>
          <a:xfrm>
            <a:off x="4709160" y="2834640"/>
            <a:ext cx="3977640" cy="1417320"/>
          </a:xfrm>
          <a:prstGeom prst="roundRect">
            <a:avLst>
              <a:gd name="adj" fmla="val 7742"/>
            </a:avLst>
          </a:prstGeom>
          <a:solidFill>
            <a:schemeClr val="tx2"/>
          </a:solidFill>
          <a:ln w="12700">
            <a:solidFill>
              <a:schemeClr val="tx2"/>
            </a:solidFill>
            <a:prstDash val="solid"/>
          </a:ln>
        </p:spPr>
        <p:txBody>
          <a:bodyPr/>
          <a:lstStyle/>
          <a:p>
            <a:endParaRPr lang="en-AU"/>
          </a:p>
        </p:txBody>
      </p:sp>
      <p:sp>
        <p:nvSpPr>
          <p:cNvPr id="13" name="Rec number 4"/>
          <p:cNvSpPr txBox="1"/>
          <p:nvPr/>
        </p:nvSpPr>
        <p:spPr>
          <a:xfrm>
            <a:off x="4937760" y="2834640"/>
            <a:ext cx="548640" cy="1417320"/>
          </a:xfrm>
          <a:prstGeom prst="rect">
            <a:avLst/>
          </a:prstGeom>
          <a:noFill/>
          <a:ln/>
        </p:spPr>
        <p:txBody>
          <a:bodyPr wrap="square" lIns="0" tIns="0" rIns="0" bIns="0" rtlCol="0" anchor="ctr"/>
          <a:lstStyle/>
          <a:p>
            <a:pPr marL="0" indent="0">
              <a:buNone/>
            </a:pPr>
            <a:r>
              <a:rPr lang="en-US" sz="4400" b="1" dirty="0">
                <a:solidFill>
                  <a:schemeClr val="accent6"/>
                </a:solidFill>
              </a:rPr>
              <a:t>4</a:t>
            </a:r>
            <a:endParaRPr lang="en-US" sz="4400" dirty="0"/>
          </a:p>
        </p:txBody>
      </p:sp>
      <p:sp>
        <p:nvSpPr>
          <p:cNvPr id="14" name="Rec text 4"/>
          <p:cNvSpPr txBox="1"/>
          <p:nvPr/>
        </p:nvSpPr>
        <p:spPr>
          <a:xfrm>
            <a:off x="5577840" y="2926080"/>
            <a:ext cx="2880360" cy="1234440"/>
          </a:xfrm>
          <a:prstGeom prst="rect">
            <a:avLst/>
          </a:prstGeom>
          <a:noFill/>
          <a:ln/>
        </p:spPr>
        <p:txBody>
          <a:bodyPr wrap="square" lIns="0" tIns="0" rIns="0" bIns="0" rtlCol="0" anchor="ctr"/>
          <a:lstStyle/>
          <a:p>
            <a:pPr marL="0" indent="0">
              <a:buNone/>
            </a:pPr>
            <a:r>
              <a:rPr lang="en-US" sz="1700" b="1" dirty="0">
                <a:solidFill>
                  <a:schemeClr val="bg1"/>
                </a:solidFill>
              </a:rPr>
              <a:t>Treat logs as a control</a:t>
            </a:r>
            <a:endParaRPr lang="en-US" sz="1700" dirty="0"/>
          </a:p>
          <a:p>
            <a:pPr marL="0" indent="0">
              <a:buNone/>
            </a:pPr>
            <a:r>
              <a:rPr lang="en-US" sz="1400" dirty="0">
                <a:solidFill>
                  <a:schemeClr val="accent5"/>
                </a:solidFill>
              </a:rPr>
              <a:t>Test detections against known answers, and write down what they can't see</a:t>
            </a:r>
            <a:endParaRPr lang="en-US" sz="1700" dirty="0"/>
          </a:p>
        </p:txBody>
      </p:sp>
      <p:sp>
        <p:nvSpPr>
          <p:cNvPr id="15" name="Repo link">
            <a:hlinkClick r:id="rId5"/>
          </p:cNvPr>
          <p:cNvSpPr txBox="1"/>
          <p:nvPr/>
        </p:nvSpPr>
        <p:spPr>
          <a:xfrm>
            <a:off x="457200" y="4526280"/>
            <a:ext cx="7498080" cy="274320"/>
          </a:xfrm>
          <a:prstGeom prst="rect">
            <a:avLst/>
          </a:prstGeom>
          <a:noFill/>
          <a:ln/>
        </p:spPr>
        <p:txBody>
          <a:bodyPr wrap="square" lIns="0" tIns="0" rIns="0" bIns="0" rtlCol="0" anchor="ctr"/>
          <a:lstStyle/>
          <a:p>
            <a:pPr marL="0" indent="0">
              <a:buNone/>
            </a:pPr>
            <a:r>
              <a:rPr lang="en-US" sz="1100" u="sng" dirty="0">
                <a:solidFill>
                  <a:schemeClr val="bg2"/>
                </a:solidFill>
                <a:hlinkClick r:id="rId5">
                  <a:extLst>
                    <a:ext uri="{A12FA001-AC4F-418D-AE19-62706E023703}">
                      <ahyp:hlinkClr xmlns:ahyp="http://schemas.microsoft.com/office/drawing/2018/hyperlinkcolor" val="tx"/>
                    </a:ext>
                  </a:extLst>
                </a:hlinkClick>
              </a:rPr>
              <a:t>Code, data and full report: github.com/Mannraj5/Project-6-Cloud-Security-Log-Analysis</a:t>
            </a:r>
            <a:endParaRPr lang="en-US" sz="1100" dirty="0"/>
          </a:p>
        </p:txBody>
      </p:sp>
      <p:sp>
        <p:nvSpPr>
          <p:cNvPr id="25" name="Slide Number Placeholder 0"/>
          <p:cNvSpPr>
            <a:spLocks noGrp="1"/>
          </p:cNvSpPr>
          <p:nvPr>
            <p:ph type="sldNum" sz="quarter" idx="4294967295"/>
          </p:nvPr>
        </p:nvSpPr>
        <p:spPr>
          <a:xfrm>
            <a:off x="8138160" y="4754880"/>
            <a:ext cx="54864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7" name="Audio 16">
            <a:hlinkClick r:id="" action="ppaction://media"/>
            <a:extLst>
              <a:ext uri="{FF2B5EF4-FFF2-40B4-BE49-F238E27FC236}">
                <a16:creationId xmlns:a16="http://schemas.microsoft.com/office/drawing/2014/main" id="{6FE77211-9973-2DCF-BE80-E96580BDBC3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84977"/>
    </mc:Choice>
    <mc:Fallback>
      <p:transition spd="slow" advTm="849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theme/theme1.xml><?xml version="1.0" encoding="utf-8"?>
<a:theme xmlns:a="http://schemas.openxmlformats.org/drawingml/2006/main" name="Signal Teal">
  <a:themeElements>
    <a:clrScheme name="Signal Teal">
      <a:dk1>
        <a:srgbClr val="0B1F24"/>
      </a:dk1>
      <a:lt1>
        <a:srgbClr val="FFFFFF"/>
      </a:lt1>
      <a:dk2>
        <a:srgbClr val="134E4A"/>
      </a:dk2>
      <a:lt2>
        <a:srgbClr val="EAF2F1"/>
      </a:lt2>
      <a:accent1>
        <a:srgbClr val="0F766E"/>
      </a:accent1>
      <a:accent2>
        <a:srgbClr val="F59E0B"/>
      </a:accent2>
      <a:accent3>
        <a:srgbClr val="C81E1E"/>
      </a:accent3>
      <a:accent4>
        <a:srgbClr val="5B6B73"/>
      </a:accent4>
      <a:accent5>
        <a:srgbClr val="5EEAD4"/>
      </a:accent5>
      <a:accent6>
        <a:srgbClr val="FCD34D"/>
      </a:accent6>
      <a:hlink>
        <a:srgbClr val="0F766E"/>
      </a:hlink>
      <a:folHlink>
        <a:srgbClr val="134E4A"/>
      </a:folHlink>
    </a:clrScheme>
    <a:fontScheme name="Signal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1479</Words>
  <Application>Microsoft Office PowerPoint</Application>
  <PresentationFormat>On-screen Show (16:9)</PresentationFormat>
  <Paragraphs>126</Paragraphs>
  <Slides>7</Slides>
  <Notes>7</Notes>
  <HiddenSlides>0</HiddenSlides>
  <MMClips>7</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Signal Teal</vt:lpstr>
      <vt:lpstr>Securing Database-as-a-Service</vt:lpstr>
      <vt:lpstr>Who secures a managed database?</vt:lpstr>
      <vt:lpstr>Three breaches, one pattern</vt:lpstr>
      <vt:lpstr>Every control fails somewhere</vt:lpstr>
      <vt:lpstr>Catching an attack chain in SQL</vt:lpstr>
      <vt:lpstr>What the detections still miss</vt:lpstr>
      <vt:lpstr>Make the customer's half someone's job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Database-as-a-Service</dc:title>
  <dc:subject>Shared responsibility, exposure and detection</dc:subject>
  <dc:creator>Manraj Singh Makin</dc:creator>
  <cp:lastModifiedBy>Doraemon Nobi</cp:lastModifiedBy>
  <cp:revision>2</cp:revision>
  <dcterms:created xsi:type="dcterms:W3CDTF">2026-10-21T08:48:49Z</dcterms:created>
  <dcterms:modified xsi:type="dcterms:W3CDTF">2026-10-23T03:44:40Z</dcterms:modified>
</cp:coreProperties>
</file>